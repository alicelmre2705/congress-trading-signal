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03" r:id="rId3"/>
    <p:sldId id="258" r:id="rId4"/>
    <p:sldId id="259" r:id="rId5"/>
    <p:sldId id="260" r:id="rId6"/>
    <p:sldId id="281" r:id="rId7"/>
    <p:sldId id="282" r:id="rId8"/>
    <p:sldId id="284" r:id="rId9"/>
    <p:sldId id="304" r:id="rId10"/>
    <p:sldId id="299" r:id="rId11"/>
    <p:sldId id="297" r:id="rId12"/>
    <p:sldId id="298" r:id="rId13"/>
    <p:sldId id="267" r:id="rId14"/>
    <p:sldId id="305" r:id="rId15"/>
    <p:sldId id="302" r:id="rId16"/>
    <p:sldId id="308" r:id="rId17"/>
    <p:sldId id="311" r:id="rId18"/>
    <p:sldId id="301" r:id="rId19"/>
    <p:sldId id="300" r:id="rId20"/>
    <p:sldId id="273" r:id="rId21"/>
    <p:sldId id="306" r:id="rId22"/>
    <p:sldId id="310" r:id="rId23"/>
    <p:sldId id="275" r:id="rId24"/>
    <p:sldId id="277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59"/>
    <p:restoredTop sz="94610"/>
  </p:normalViewPr>
  <p:slideViewPr>
    <p:cSldViewPr snapToGrid="0" snapToObjects="1">
      <p:cViewPr varScale="1">
        <p:scale>
          <a:sx n="180" d="100"/>
          <a:sy n="180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245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3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1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71689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Congress Trading Signal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66928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 &amp; Audit des sources — Jours 1–2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66928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E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 présentation à l'équipe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  ·  Ramify &amp; Valhyr Capital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8CB705E-8ADC-DD40-B46B-1D325EB7AE3C}"/>
              </a:ext>
            </a:extLst>
          </p:cNvPr>
          <p:cNvSpPr txBox="1"/>
          <p:nvPr/>
        </p:nvSpPr>
        <p:spPr>
          <a:xfrm>
            <a:off x="914400" y="1625600"/>
            <a:ext cx="5588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C2730B"/>
                </a:solidFill>
                <a:latin typeface="Calibri"/>
                <a:cs typeface="Calibri"/>
              </a:rPr>
              <a:t>PARTIE I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ED1923F-D88F-F745-8700-8A625DFC78ED}"/>
              </a:ext>
            </a:extLst>
          </p:cNvPr>
          <p:cNvSpPr txBox="1"/>
          <p:nvPr/>
        </p:nvSpPr>
        <p:spPr>
          <a:xfrm>
            <a:off x="914400" y="2032000"/>
            <a:ext cx="79248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3600" b="1">
                <a:solidFill>
                  <a:srgbClr val="1F4E79"/>
                </a:solidFill>
                <a:latin typeface="Cambria"/>
              </a:rPr>
              <a:t>Première approche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CB35EB-4F74-8444-AB44-5D8B918DE126}"/>
              </a:ext>
            </a:extLst>
          </p:cNvPr>
          <p:cNvSpPr/>
          <p:nvPr/>
        </p:nvSpPr>
        <p:spPr>
          <a:xfrm>
            <a:off x="939800" y="2971800"/>
            <a:ext cx="1524000" cy="381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9A6E13C-F800-9D45-BFE9-AC60C301E899}"/>
              </a:ext>
            </a:extLst>
          </p:cNvPr>
          <p:cNvSpPr txBox="1"/>
          <p:nvPr/>
        </p:nvSpPr>
        <p:spPr>
          <a:xfrm>
            <a:off x="914400" y="3175000"/>
            <a:ext cx="7112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600">
                <a:solidFill>
                  <a:srgbClr val="5C6770"/>
                </a:solidFill>
                <a:latin typeface="Calibri"/>
                <a:cs typeface="Calibri"/>
              </a:rPr>
              <a:t>Théorie — du contexte institutionnel aux mathématiques de l'évaluation</a:t>
            </a:r>
          </a:p>
        </p:txBody>
      </p:sp>
    </p:spTree>
    <p:extLst>
      <p:ext uri="{BB962C8B-B14F-4D97-AF65-F5344CB8AC3E}">
        <p14:creationId xmlns:p14="http://schemas.microsoft.com/office/powerpoint/2010/main" val="2458297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décor institutionnel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3F6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457200" y="11704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535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1938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du Congrès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18688" y="10972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3F6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218688" y="11704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435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310128" y="1938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— mandat 2 ans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80176" y="10972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3F6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980176" y="117043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6071616" y="1938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Senate — mandat 6 ans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commissions clés = avantage informationnel (edge)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31546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713232" y="3383280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33" y="3530681"/>
            <a:ext cx="272125" cy="27212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17320" y="34015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13232" y="39502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banques, marchés, fiscalité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218688" y="31546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3474720" y="3383280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121" y="3530681"/>
            <a:ext cx="272125" cy="27212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178808" y="34015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3474720" y="39502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d'armement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980176" y="315468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1"/>
          <p:cNvSpPr/>
          <p:nvPr/>
        </p:nvSpPr>
        <p:spPr>
          <a:xfrm>
            <a:off x="6236208" y="3383280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609" y="3530681"/>
            <a:ext cx="272125" cy="2721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40296" y="34015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236208" y="395020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briefings classifiés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membre siégeant dans ces commissions peut connaître l'information avant le marché.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Act (2012) &amp; le PTR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151424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3898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loi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777240" y="205740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publique obligatoire de toute transaction &gt; 1 000 $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: sous 30 j (après connaissance) et au plus tard 45 j après la transaction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exploitables en pratique dès 2013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09160" y="114300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F3F6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4983480" y="137160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126" y="151424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23560" y="13898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PTR — document source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5029200" y="199339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Transaction Report. Chaque ligne contient :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029200" y="24688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&amp; type d'opération (Purchase / Sale…)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fourchette de montant (jamais exact)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transaction_date (date du trade)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disclosure_date (date de dépôt public)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thèse d'investissement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58368" y="1298448"/>
            <a:ext cx="475488" cy="47548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95" y="1422075"/>
            <a:ext cx="228234" cy="2282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2984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58368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informationnel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542032" y="1325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2788920" y="109728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2990088" y="1298448"/>
            <a:ext cx="475488" cy="47548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3715" y="142207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12984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990088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suivi déclare un achat »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873752" y="1325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5120640" y="109728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3"/>
          <p:cNvSpPr/>
          <p:nvPr/>
        </p:nvSpPr>
        <p:spPr>
          <a:xfrm>
            <a:off x="5321808" y="1298448"/>
            <a:ext cx="475488" cy="47548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5435" y="1422075"/>
            <a:ext cx="228234" cy="22823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97880" y="12984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321808" y="1783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sur-performance hors marché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57200" y="2468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académique — des attentes réalistes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457200" y="28803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BEFDD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18"/>
          <p:cNvSpPr/>
          <p:nvPr/>
        </p:nvSpPr>
        <p:spPr>
          <a:xfrm>
            <a:off x="640080" y="29992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73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Ziobrowski (2004)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0080" y="34930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~12 % d'alpha, MAIS avant STOCK Act (régime opaque) → pas une attente post-2013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18688" y="28803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7F1E7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1"/>
          <p:cNvSpPr/>
          <p:nvPr/>
        </p:nvSpPr>
        <p:spPr>
          <a:xfrm>
            <a:off x="3401568" y="29992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Karadas (2019)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3401568" y="34930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l'appartenance aux commissions clés = meilleur prédicteur → justifie le filtre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980176" y="288036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8E3E1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/>
          <p:nvPr/>
        </p:nvSpPr>
        <p:spPr>
          <a:xfrm>
            <a:off x="6163056" y="29992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Eggers &amp; Hainmueller (2013)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6163056" y="349300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Capitol Losses » : signal dégradé post-transparence → prudence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calibrer les attentes à la baisse pour la période post-2013.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second périmètre : les insiders médiatiques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09600" y="1930400"/>
            <a:ext cx="3810000" cy="2133600"/>
          </a:xfrm>
          <a:prstGeom prst="roundRect">
            <a:avLst>
              <a:gd name="adj" fmla="val 5333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38200" y="215900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00" y="2286000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73200" y="2235200"/>
            <a:ext cx="279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38200" y="2717800"/>
            <a:ext cx="335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buNone/>
            </a:pPr>
            <a:r>
              <a:rPr lang="fr-FR" sz="1400" dirty="0">
                <a:solidFill>
                  <a:srgbClr val="23303A"/>
                </a:solidFill>
                <a:latin typeface="Calibri" pitchFamily="34" charset="0"/>
              </a:rPr>
              <a:t>Personne très suivie (gérant, dirigeant, commentateur) dont les positions, une fois publiques, peuvent déplacer les prix (« market-moving »).</a:t>
            </a:r>
          </a:p>
        </p:txBody>
      </p:sp>
      <p:sp>
        <p:nvSpPr>
          <p:cNvPr id="12" name="Shape 8"/>
          <p:cNvSpPr/>
          <p:nvPr/>
        </p:nvSpPr>
        <p:spPr>
          <a:xfrm>
            <a:off x="4724400" y="1930400"/>
            <a:ext cx="3810000" cy="2133600"/>
          </a:xfrm>
          <a:prstGeom prst="roundRect">
            <a:avLst>
              <a:gd name="adj" fmla="val 3902"/>
            </a:avLst>
          </a:prstGeom>
          <a:solidFill>
            <a:srgbClr val="F8E3E1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4953000" y="2159000"/>
            <a:ext cx="493776" cy="493776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0" y="2286000"/>
            <a:ext cx="237012" cy="2370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62600" y="2184400"/>
            <a:ext cx="2870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mécanismes à ne pas confondre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953000" y="2717800"/>
            <a:ext cx="3378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0" indent="0">
              <a:spcAft>
                <a:spcPts val="800"/>
              </a:spcAft>
              <a:buNone/>
            </a:pPr>
            <a:r>
              <a:rPr lang="fr-FR" sz="1400" b="1" dirty="0">
                <a:solidFill>
                  <a:srgbClr val="23303A"/>
                </a:solidFill>
                <a:latin typeface="Calibri" pitchFamily="34" charset="0"/>
              </a:rPr>
              <a:t>Congressman = </a:t>
            </a:r>
            <a:r>
              <a:rPr lang="fr-FR" sz="1400" dirty="0">
                <a:solidFill>
                  <a:srgbClr val="23303A"/>
                </a:solidFill>
                <a:latin typeface="Calibri" pitchFamily="34" charset="0"/>
              </a:rPr>
              <a:t>anticipation d'information.</a:t>
            </a:r>
          </a:p>
          <a:p>
            <a:pPr marL="0" indent="0">
              <a:buNone/>
            </a:pPr>
            <a:r>
              <a:rPr lang="fr-FR" sz="1400" b="1" dirty="0">
                <a:solidFill>
                  <a:srgbClr val="23303A"/>
                </a:solidFill>
                <a:latin typeface="Calibri" pitchFamily="34" charset="0"/>
              </a:rPr>
              <a:t>Insider médiatique = </a:t>
            </a:r>
            <a:r>
              <a:rPr lang="fr-FR" sz="1400" dirty="0">
                <a:solidFill>
                  <a:srgbClr val="23303A"/>
                </a:solidFill>
                <a:latin typeface="Calibri" pitchFamily="34" charset="0"/>
              </a:rPr>
              <a:t>réaction du marché à une annonce.</a:t>
            </a:r>
          </a:p>
        </p:txBody>
      </p:sp>
    </p:spTree>
    <p:extLst>
      <p:ext uri="{BB962C8B-B14F-4D97-AF65-F5344CB8AC3E}">
        <p14:creationId xmlns:p14="http://schemas.microsoft.com/office/powerpoint/2010/main" val="660405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donnée brute au signal propre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BEFDD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76656" y="1371600"/>
            <a:ext cx="548640" cy="548640"/>
          </a:xfrm>
          <a:prstGeom prst="ellipse">
            <a:avLst/>
          </a:prstGeom>
          <a:solidFill>
            <a:srgbClr val="C273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" y="151424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22529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73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deux dates = la subtilité n°1 du projet (look-ahead bias)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371600" y="166420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23303A"/>
                </a:solidFill>
                <a:latin typeface="Courier New" pitchFamily="34" charset="0"/>
              </a:rPr>
              <a:t>transaction_date</a:t>
            </a:r>
            <a:r>
              <a:rPr lang="fr-FR" sz="1200" dirty="0">
                <a:solidFill>
                  <a:srgbClr val="23303A"/>
                </a:solidFill>
                <a:latin typeface="Calibri" pitchFamily="34" charset="0"/>
              </a:rPr>
              <a:t> (le trade) vs </a:t>
            </a:r>
            <a:r>
              <a:rPr lang="fr-FR" sz="1200" b="1" dirty="0">
                <a:solidFill>
                  <a:srgbClr val="23303A"/>
                </a:solidFill>
                <a:latin typeface="Courier New" pitchFamily="34" charset="0"/>
              </a:rPr>
              <a:t>disclosure_date</a:t>
            </a:r>
            <a:r>
              <a:rPr lang="fr-FR" sz="1200" dirty="0">
                <a:solidFill>
                  <a:srgbClr val="23303A"/>
                </a:solidFill>
                <a:latin typeface="Calibri" pitchFamily="34" charset="0"/>
              </a:rPr>
              <a:t> (dépôt public) : jusqu'à ~45 j d'écart. </a:t>
            </a:r>
            <a:r>
              <a:rPr lang="fr-FR" sz="1200" b="1" dirty="0">
                <a:solidFill>
                  <a:srgbClr val="B3261E"/>
                </a:solidFill>
                <a:latin typeface="Calibri" pitchFamily="34" charset="0"/>
              </a:rPr>
              <a:t>On entre TOUJOURS à la disclosure_date</a:t>
            </a:r>
            <a:r>
              <a:rPr lang="fr-FR" sz="1200" dirty="0">
                <a:solidFill>
                  <a:srgbClr val="23303A"/>
                </a:solidFill>
                <a:latin typeface="Calibri" pitchFamily="34" charset="0"/>
              </a:rPr>
              <a:t>, sinon le rendement est fictif.</a:t>
            </a:r>
          </a:p>
        </p:txBody>
      </p:sp>
      <p:sp>
        <p:nvSpPr>
          <p:cNvPr id="10" name="Shape 6"/>
          <p:cNvSpPr/>
          <p:nvPr/>
        </p:nvSpPr>
        <p:spPr>
          <a:xfrm>
            <a:off x="457200" y="246888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640080" y="2578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Fourchettes → midpoint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40080" y="297180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fr-FR" sz="1100" dirty="0">
                <a:solidFill>
                  <a:srgbClr val="23303A"/>
                </a:solidFill>
                <a:latin typeface="Calibri" pitchFamily="34" charset="0"/>
              </a:rPr>
              <a:t>Montants déclarés par tranches → on prend le milieu :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23303A"/>
                </a:solidFill>
                <a:latin typeface="Courier New" pitchFamily="34" charset="0"/>
              </a:rPr>
              <a:t>1 001–15 000  →  8 000,5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fr-FR" sz="1100" dirty="0">
                <a:solidFill>
                  <a:srgbClr val="23303A"/>
                </a:solidFill>
                <a:latin typeface="Courier New" pitchFamily="34" charset="0"/>
              </a:rPr>
              <a:t>1 M–5 M  →  3 000 000,5</a:t>
            </a:r>
          </a:p>
          <a:p>
            <a:pPr marL="0" indent="0">
              <a:buNone/>
            </a:pPr>
            <a:r>
              <a:rPr lang="fr-FR" sz="1100" i="1" dirty="0">
                <a:solidFill>
                  <a:srgbClr val="C2730B"/>
                </a:solidFill>
                <a:latin typeface="Calibri" pitchFamily="34" charset="0"/>
              </a:rPr>
              <a:t>« &gt; 50 M$ » = tranche ouverte → convention à fixer.</a:t>
            </a:r>
          </a:p>
        </p:txBody>
      </p:sp>
      <p:sp>
        <p:nvSpPr>
          <p:cNvPr id="13" name="Shape 9"/>
          <p:cNvSpPr/>
          <p:nvPr/>
        </p:nvSpPr>
        <p:spPr>
          <a:xfrm>
            <a:off x="4663440" y="246888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3F6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4846320" y="2578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Tickers &amp; schéma cible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846320" y="297180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fr-FR" sz="1100" b="1" dirty="0">
                <a:solidFill>
                  <a:srgbClr val="23303A"/>
                </a:solidFill>
                <a:latin typeface="Calibri" pitchFamily="34" charset="0"/>
              </a:rPr>
              <a:t>Tickers : </a:t>
            </a:r>
            <a:r>
              <a:rPr lang="fr-FR" sz="1100" dirty="0">
                <a:solidFill>
                  <a:srgbClr val="23303A"/>
                </a:solidFill>
                <a:latin typeface="Calibri" pitchFamily="34" charset="0"/>
              </a:rPr>
              <a:t>le PTR donne le nom, pas le ticker → à reconstruire.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fr-FR" sz="1100" b="1" dirty="0">
                <a:solidFill>
                  <a:srgbClr val="23303A"/>
                </a:solidFill>
                <a:latin typeface="Calibri" pitchFamily="34" charset="0"/>
              </a:rPr>
              <a:t>Schéma cible : 12 champs sans valeur manquante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23303A"/>
                </a:solidFill>
                <a:latin typeface="Courier New" pitchFamily="34" charset="0"/>
              </a:rPr>
              <a:t>declarant_name, chamber, ticker, sector_gics, etf_proxy, operation_type, amount_midpoint…</a:t>
            </a:r>
          </a:p>
        </p:txBody>
      </p:sp>
    </p:spTree>
    <p:extLst>
      <p:ext uri="{BB962C8B-B14F-4D97-AF65-F5344CB8AC3E}">
        <p14:creationId xmlns:p14="http://schemas.microsoft.com/office/powerpoint/2010/main" val="1884534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dirty="0">
                <a:solidFill>
                  <a:srgbClr val="1F4E79"/>
                </a:solidFill>
                <a:latin typeface="Cambria" pitchFamily="34" charset="0"/>
              </a:rPr>
              <a:t>La dissymétrie House / Senate</a:t>
            </a:r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BEFDD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76656" y="1371600"/>
            <a:ext cx="548640" cy="548640"/>
          </a:xfrm>
          <a:prstGeom prst="ellipse">
            <a:avLst/>
          </a:prstGeom>
          <a:solidFill>
            <a:srgbClr val="C273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" y="151424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22529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dirty="0">
                <a:solidFill>
                  <a:srgbClr val="C2730B"/>
                </a:solidFill>
                <a:latin typeface="Cambria" pitchFamily="34" charset="0"/>
              </a:rPr>
              <a:t>Deux chambres, deux sources très différentes</a:t>
            </a:r>
          </a:p>
        </p:txBody>
      </p:sp>
      <p:sp>
        <p:nvSpPr>
          <p:cNvPr id="9" name="Text 5"/>
          <p:cNvSpPr/>
          <p:nvPr/>
        </p:nvSpPr>
        <p:spPr>
          <a:xfrm>
            <a:off x="1371600" y="166420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23303A"/>
                </a:solidFill>
                <a:latin typeface="Calibri" pitchFamily="34" charset="0"/>
              </a:rPr>
              <a:t>Les deux chambres publient leurs PTR différemment — une réalité technique qui structure toute la collecte de données.</a:t>
            </a:r>
          </a:p>
        </p:txBody>
      </p:sp>
      <p:sp>
        <p:nvSpPr>
          <p:cNvPr id="10" name="Shape 6"/>
          <p:cNvSpPr/>
          <p:nvPr/>
        </p:nvSpPr>
        <p:spPr>
          <a:xfrm>
            <a:off x="457200" y="246888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640080" y="2578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b="1" dirty="0">
                <a:solidFill>
                  <a:srgbClr val="1F4E79"/>
                </a:solidFill>
                <a:latin typeface="Cambria" pitchFamily="34" charset="0"/>
              </a:rPr>
              <a:t>House — source propre</a:t>
            </a:r>
          </a:p>
        </p:txBody>
      </p:sp>
      <p:sp>
        <p:nvSpPr>
          <p:cNvPr id="12" name="Text 8"/>
          <p:cNvSpPr/>
          <p:nvPr/>
        </p:nvSpPr>
        <p:spPr>
          <a:xfrm>
            <a:off x="640080" y="297180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fr-FR" sz="1100" dirty="0">
                <a:solidFill>
                  <a:srgbClr val="23303A"/>
                </a:solidFill>
                <a:latin typeface="Calibri" pitchFamily="34" charset="0"/>
              </a:rPr>
              <a:t>Archive annuelle .zip + index XML structuré listant toutes les déclarations.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fr-FR" sz="1100" dirty="0">
                <a:solidFill>
                  <a:srgbClr val="23303A"/>
                </a:solidFill>
                <a:latin typeface="Calibri" pitchFamily="34" charset="0"/>
              </a:rPr>
              <a:t>PDF générés par machine → texte directement extractible.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1F4E79"/>
                </a:solidFill>
                <a:latin typeface="Courier New" pitchFamily="34" charset="0"/>
              </a:rPr>
              <a:t>disclosures-clerk.house.gov</a:t>
            </a:r>
          </a:p>
        </p:txBody>
      </p:sp>
      <p:sp>
        <p:nvSpPr>
          <p:cNvPr id="13" name="Shape 9"/>
          <p:cNvSpPr/>
          <p:nvPr/>
        </p:nvSpPr>
        <p:spPr>
          <a:xfrm>
            <a:off x="4663440" y="246888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3F6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4846320" y="2578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b="1" dirty="0">
                <a:solidFill>
                  <a:srgbClr val="1F4E79"/>
                </a:solidFill>
                <a:latin typeface="Cambria" pitchFamily="34" charset="0"/>
              </a:rPr>
              <a:t>Senate — source pénible</a:t>
            </a:r>
          </a:p>
        </p:txBody>
      </p:sp>
      <p:sp>
        <p:nvSpPr>
          <p:cNvPr id="15" name="Text 11"/>
          <p:cNvSpPr/>
          <p:nvPr/>
        </p:nvSpPr>
        <p:spPr>
          <a:xfrm>
            <a:off x="4846320" y="297180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fr-FR" sz="1100" dirty="0">
                <a:solidFill>
                  <a:srgbClr val="23303A"/>
                </a:solidFill>
                <a:latin typeface="Calibri" pitchFamily="34" charset="0"/>
              </a:rPr>
              <a:t>HTML structuré (exploitable) + PDF scannés → OCR nécessaire.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fr-FR" sz="1100" b="1" dirty="0">
                <a:solidFill>
                  <a:srgbClr val="B3261E"/>
                </a:solidFill>
                <a:latin typeface="Calibri" pitchFamily="34" charset="0"/>
              </a:rPr>
              <a:t>Piège 6 ans : accès en ligne ~6 ans → PTR 2013–2019 souvent indisponibles.</a:t>
            </a:r>
          </a:p>
          <a:p>
            <a:pPr marL="0" indent="0">
              <a:buNone/>
            </a:pPr>
            <a:r>
              <a:rPr lang="fr-FR" sz="1100" i="1" dirty="0">
                <a:solidFill>
                  <a:srgbClr val="C2730B"/>
                </a:solidFill>
                <a:latin typeface="Calibri" pitchFamily="34" charset="0"/>
              </a:rPr>
              <a:t>Couverture asymétrique : longue côté House, courte côté Senate.</a:t>
            </a:r>
          </a:p>
        </p:txBody>
      </p:sp>
    </p:spTree>
    <p:extLst>
      <p:ext uri="{BB962C8B-B14F-4D97-AF65-F5344CB8AC3E}">
        <p14:creationId xmlns:p14="http://schemas.microsoft.com/office/powerpoint/2010/main" val="3138621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Circle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con" descr="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itle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stratégie &amp; les deux versions</a:t>
            </a:r>
            <a:endParaRPr lang="en-US" sz="2600" dirty="0"/>
          </a:p>
        </p:txBody>
      </p:sp>
      <p:sp>
        <p:nvSpPr>
          <p:cNvPr id="5" name="RuleBand"/>
          <p:cNvSpPr/>
          <p:nvPr/>
        </p:nvSpPr>
        <p:spPr>
          <a:xfrm>
            <a:off x="457200" y="1042416"/>
            <a:ext cx="8229600" cy="838200"/>
          </a:xfrm>
          <a:prstGeom prst="roundRect">
            <a:avLst>
              <a:gd name="adj" fmla="val 7000"/>
            </a:avLst>
          </a:prstGeom>
          <a:solidFill>
            <a:srgbClr val="EAF0F6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 wrap="square" lIns="228600" tIns="121920" rIns="228600" bIns="12192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</a:rPr>
              <a:t>Règle de copy trading (identique aux deux versions)</a:t>
            </a:r>
            <a:endParaRPr lang="en-US" sz="12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</a:rPr>
              <a:t>Entrée : </a:t>
            </a:r>
            <a:r>
              <a:rPr lang="en-US" sz="1150" dirty="0">
                <a:solidFill>
                  <a:srgbClr val="23303A"/>
                </a:solidFill>
                <a:latin typeface="Calibri" pitchFamily="34" charset="0"/>
              </a:rPr>
              <a:t>achat dès qu'un suivi déclare un Purchase, à la disclosure_date.    </a:t>
            </a:r>
            <a:r>
              <a:rPr lang="en-US" sz="1150" b="1" dirty="0">
                <a:solidFill>
                  <a:srgbClr val="C2730B"/>
                </a:solidFill>
                <a:latin typeface="Calibri" pitchFamily="34" charset="0"/>
              </a:rPr>
              <a:t>Sortie : </a:t>
            </a:r>
            <a:r>
              <a:rPr lang="en-US" sz="1150" dirty="0">
                <a:solidFill>
                  <a:srgbClr val="23303A"/>
                </a:solidFill>
                <a:latin typeface="Calibri" pitchFamily="34" charset="0"/>
              </a:rPr>
              <a:t>sur un Sale du même suivi/ticker ; sinon, sortie forcée à 12 mois.</a:t>
            </a:r>
            <a:endParaRPr lang="en-US" sz="1150" dirty="0"/>
          </a:p>
        </p:txBody>
      </p:sp>
      <p:sp>
        <p:nvSpPr>
          <p:cNvPr id="10" name="V1Card"/>
          <p:cNvSpPr/>
          <p:nvPr/>
        </p:nvSpPr>
        <p:spPr>
          <a:xfrm>
            <a:off x="457200" y="2057400"/>
            <a:ext cx="4023360" cy="2606040"/>
          </a:xfrm>
          <a:prstGeom prst="roundRect">
            <a:avLst>
              <a:gd name="adj" fmla="val 3500"/>
            </a:avLst>
          </a:prstGeom>
          <a:solidFill>
            <a:srgbClr val="EAF0F6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V1Icon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V1IconImg" descr="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2371039"/>
            <a:ext cx="241402" cy="241402"/>
          </a:xfrm>
          <a:prstGeom prst="rect">
            <a:avLst/>
          </a:prstGeom>
        </p:spPr>
      </p:pic>
      <p:sp>
        <p:nvSpPr>
          <p:cNvPr id="13" name="V1Title"/>
          <p:cNvSpPr/>
          <p:nvPr/>
        </p:nvSpPr>
        <p:spPr>
          <a:xfrm>
            <a:off x="1280160" y="2240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mbria" pitchFamily="34" charset="0"/>
              </a:rPr>
              <a:t>Version 1 — Actions directes</a:t>
            </a:r>
            <a:endParaRPr lang="en-US" sz="1500" dirty="0"/>
          </a:p>
        </p:txBody>
      </p:sp>
      <p:sp>
        <p:nvSpPr>
          <p:cNvPr id="14" name="V1Body"/>
          <p:cNvSpPr/>
          <p:nvPr/>
        </p:nvSpPr>
        <p:spPr>
          <a:xfrm>
            <a:off x="640080" y="28956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</a:rPr>
              <a:t>On trade le ticker exact déclaré.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</a:rPr>
              <a:t>+ Avantages</a:t>
            </a:r>
            <a:endParaRPr lang="en-US" sz="1100" dirty="0"/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</a:rPr>
              <a:t>Fidèle au signal : valide le signal brut</a:t>
            </a:r>
            <a:endParaRPr lang="en-US" sz="1050" dirty="0"/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</a:rPr>
              <a:t>Track records individuels (Sharpe)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</a:rPr>
              <a:t>– Inconvénients</a:t>
            </a:r>
            <a:endParaRPr lang="en-US" sz="1100" dirty="0"/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</a:rPr>
              <a:t>Pas investissable chez Ramify (actions)</a:t>
            </a:r>
            <a:endParaRPr lang="en-US" sz="1050" dirty="0"/>
          </a:p>
          <a:p>
            <a:pPr marL="171450" indent="-171450">
              <a:buFont typeface="Arial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</a:rPr>
              <a:t>Liquidité faible, risque idiosyncratique</a:t>
            </a:r>
            <a:endParaRPr lang="en-US" sz="1050" dirty="0"/>
          </a:p>
        </p:txBody>
      </p:sp>
      <p:sp>
        <p:nvSpPr>
          <p:cNvPr id="20" name="V2Card"/>
          <p:cNvSpPr/>
          <p:nvPr/>
        </p:nvSpPr>
        <p:spPr>
          <a:xfrm>
            <a:off x="4663440" y="2057400"/>
            <a:ext cx="4023360" cy="2606040"/>
          </a:xfrm>
          <a:prstGeom prst="roundRect">
            <a:avLst>
              <a:gd name="adj" fmla="val 3500"/>
            </a:avLst>
          </a:prstGeom>
          <a:solidFill>
            <a:srgbClr val="E7F1E7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V2Icon"/>
          <p:cNvSpPr/>
          <p:nvPr/>
        </p:nvSpPr>
        <p:spPr>
          <a:xfrm>
            <a:off x="4846320" y="224028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V2IconImg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079" y="2371039"/>
            <a:ext cx="241402" cy="241402"/>
          </a:xfrm>
          <a:prstGeom prst="rect">
            <a:avLst/>
          </a:prstGeom>
        </p:spPr>
      </p:pic>
      <p:sp>
        <p:nvSpPr>
          <p:cNvPr id="23" name="V2Title"/>
          <p:cNvSpPr/>
          <p:nvPr/>
        </p:nvSpPr>
        <p:spPr>
          <a:xfrm>
            <a:off x="5486400" y="2240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Cambria" pitchFamily="34" charset="0"/>
              </a:rPr>
              <a:t>Version 2 — ETF sectoriels</a:t>
            </a:r>
            <a:endParaRPr lang="en-US" sz="1500" dirty="0"/>
          </a:p>
        </p:txBody>
      </p:sp>
      <p:sp>
        <p:nvSpPr>
          <p:cNvPr id="24" name="V2Body"/>
          <p:cNvSpPr/>
          <p:nvPr/>
        </p:nvSpPr>
        <p:spPr>
          <a:xfrm>
            <a:off x="4846320" y="28956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</a:rPr>
              <a:t>On substitue l'ETF du secteur (mapping GICS).</a:t>
            </a:r>
            <a:endParaRPr lang="en-US" sz="1100" dirty="0"/>
          </a:p>
          <a:p>
            <a:pPr marL="0" indent="0">
              <a:spcBef>
                <a:spcPts val="200"/>
              </a:spcBef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</a:rPr>
              <a:t>+ Avantages</a:t>
            </a:r>
            <a:endParaRPr lang="en-US" sz="1100" dirty="0"/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</a:rPr>
              <a:t>Investissable dans l'univers Ramify</a:t>
            </a:r>
            <a:endParaRPr lang="en-US" sz="1050" dirty="0"/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</a:rPr>
              <a:t>Liquidité, diversification, capacité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</a:rPr>
              <a:t>– Inconvénients</a:t>
            </a:r>
            <a:endParaRPr lang="en-US" sz="1100" dirty="0"/>
          </a:p>
          <a:p>
            <a:pPr marL="171450" indent="-171450">
              <a:spcAft>
                <a:spcPts val="100"/>
              </a:spcAft>
              <a:buFont typeface="Arial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</a:rPr>
              <a:t>Dilue l'avantage sur une entreprise précise</a:t>
            </a:r>
            <a:endParaRPr lang="en-US" sz="1050" dirty="0"/>
          </a:p>
          <a:p>
            <a:pPr marL="171450" indent="-171450">
              <a:buFont typeface="Arial"/>
              <a:buChar char="•"/>
            </a:pPr>
            <a:r>
              <a:rPr lang="en-US" sz="1050" dirty="0">
                <a:solidFill>
                  <a:srgbClr val="23303A"/>
                </a:solidFill>
                <a:latin typeface="Calibri" pitchFamily="34" charset="0"/>
              </a:rPr>
              <a:t>Signal moins fin (tout le secteur)</a:t>
            </a:r>
            <a:endParaRPr lang="en-US" sz="1050" dirty="0"/>
          </a:p>
        </p:txBody>
      </p:sp>
      <p:sp>
        <p:nvSpPr>
          <p:cNvPr id="30" name="Footer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770"/>
                </a:solidFill>
                <a:latin typeface="Calibri" pitchFamily="34" charset="0"/>
              </a:rPr>
              <a:t>Même signal, instrument différent. La V2 s'intègre à l'univers ETF de Ramify ; le backtest doit trancher si le signal survit à la translation sectorielle.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dirty="0">
                <a:solidFill>
                  <a:srgbClr val="1F4E79"/>
                </a:solidFill>
                <a:latin typeface="Cambria" pitchFamily="34" charset="0"/>
              </a:rPr>
              <a:t>Mauboussin — talent vs chance</a:t>
            </a:r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E3E1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40080" y="1225296"/>
            <a:ext cx="457200" cy="457200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344168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fr-FR" sz="1300" b="1" dirty="0">
                <a:solidFill>
                  <a:srgbClr val="1F4E79"/>
                </a:solidFill>
                <a:latin typeface="Calibri"/>
              </a:rPr>
              <a:t>L’idée : </a:t>
            </a:r>
            <a:r>
              <a:rPr lang="fr-FR" sz="1300" dirty="0">
                <a:solidFill>
                  <a:srgbClr val="23303A"/>
                </a:solidFill>
                <a:latin typeface="Calibri"/>
              </a:rPr>
              <a:t>perf = talent + chance. Prendre les K meilleurs Sharpe de l’an passé, c’est risquer de choisir les chanceux (ils régressent vers la moyenne l’année suivante).</a:t>
            </a:r>
          </a:p>
        </p:txBody>
      </p:sp>
      <p:sp>
        <p:nvSpPr>
          <p:cNvPr id="9" name="Shape 5"/>
          <p:cNvSpPr/>
          <p:nvPr/>
        </p:nvSpPr>
        <p:spPr>
          <a:xfrm>
            <a:off x="457200" y="2006600"/>
            <a:ext cx="8229600" cy="1651000"/>
          </a:xfrm>
          <a:prstGeom prst="roundRect">
            <a:avLst>
              <a:gd name="adj" fmla="val 4706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62000" y="2108200"/>
            <a:ext cx="762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250" i="1" dirty="0">
                <a:solidFill>
                  <a:srgbClr val="1F4E79"/>
                </a:solidFill>
                <a:latin typeface="Calibri"/>
              </a:rPr>
              <a:t>Estimer le vrai talent : tirer la perf vers la moyenne du groupe</a:t>
            </a:r>
          </a:p>
        </p:txBody>
      </p:sp>
      <p:sp>
        <p:nvSpPr>
          <p:cNvPr id="11" name="Text 7"/>
          <p:cNvSpPr/>
          <p:nvPr/>
        </p:nvSpPr>
        <p:spPr>
          <a:xfrm>
            <a:off x="762000" y="2489200"/>
            <a:ext cx="7620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550" dirty="0">
                <a:solidFill>
                  <a:srgbClr val="23303A"/>
                </a:solidFill>
                <a:latin typeface="Cambria"/>
              </a:rPr>
              <a:t>μ</a:t>
            </a:r>
            <a:r>
              <a:rPr lang="fr-FR" sz="1550" baseline="-25000" dirty="0">
                <a:solidFill>
                  <a:srgbClr val="23303A"/>
                </a:solidFill>
                <a:latin typeface="Cambria"/>
              </a:rPr>
              <a:t>ajusté</a:t>
            </a:r>
            <a:r>
              <a:rPr lang="fr-FR" sz="1550" dirty="0">
                <a:solidFill>
                  <a:srgbClr val="23303A"/>
                </a:solidFill>
                <a:latin typeface="Cambria"/>
              </a:rPr>
              <a:t> = μ</a:t>
            </a:r>
            <a:r>
              <a:rPr lang="fr-FR" sz="1550" baseline="-25000" dirty="0">
                <a:solidFill>
                  <a:srgbClr val="23303A"/>
                </a:solidFill>
                <a:latin typeface="Cambria"/>
              </a:rPr>
              <a:t>groupe</a:t>
            </a:r>
            <a:r>
              <a:rPr lang="fr-FR" sz="1550" dirty="0">
                <a:solidFill>
                  <a:srgbClr val="23303A"/>
                </a:solidFill>
                <a:latin typeface="Cambria"/>
              </a:rPr>
              <a:t> + w · (μ</a:t>
            </a:r>
            <a:r>
              <a:rPr lang="fr-FR" sz="1550" baseline="-25000" dirty="0">
                <a:solidFill>
                  <a:srgbClr val="23303A"/>
                </a:solidFill>
                <a:latin typeface="Cambria"/>
              </a:rPr>
              <a:t>c</a:t>
            </a:r>
            <a:r>
              <a:rPr lang="fr-FR" sz="1550" dirty="0">
                <a:solidFill>
                  <a:srgbClr val="23303A"/>
                </a:solidFill>
                <a:latin typeface="Cambria"/>
              </a:rPr>
              <a:t> − μ</a:t>
            </a:r>
            <a:r>
              <a:rPr lang="fr-FR" sz="1550" baseline="-25000" dirty="0">
                <a:solidFill>
                  <a:srgbClr val="23303A"/>
                </a:solidFill>
                <a:latin typeface="Cambria"/>
              </a:rPr>
              <a:t>groupe</a:t>
            </a:r>
            <a:r>
              <a:rPr lang="fr-FR" sz="1550" dirty="0">
                <a:solidFill>
                  <a:srgbClr val="23303A"/>
                </a:solidFill>
                <a:latin typeface="Cambria"/>
              </a:rPr>
              <a:t>)</a:t>
            </a:r>
          </a:p>
          <a:p>
            <a:pPr algn="ctr">
              <a:spcBef>
                <a:spcPts val="300"/>
              </a:spcBef>
            </a:pPr>
            <a:r>
              <a:rPr lang="fr-FR" sz="1400" dirty="0">
                <a:solidFill>
                  <a:srgbClr val="23303A"/>
                </a:solidFill>
                <a:latin typeface="Cambria"/>
              </a:rPr>
              <a:t>w = σ²</a:t>
            </a:r>
            <a:r>
              <a:rPr lang="fr-FR" sz="1400" baseline="-25000" dirty="0">
                <a:solidFill>
                  <a:srgbClr val="23303A"/>
                </a:solidFill>
                <a:latin typeface="Cambria"/>
              </a:rPr>
              <a:t>talent</a:t>
            </a:r>
            <a:r>
              <a:rPr lang="fr-FR" sz="1400" dirty="0">
                <a:solidFill>
                  <a:srgbClr val="23303A"/>
                </a:solidFill>
                <a:latin typeface="Cambria"/>
              </a:rPr>
              <a:t> ⁄ ( σ²</a:t>
            </a:r>
            <a:r>
              <a:rPr lang="fr-FR" sz="1400" baseline="-25000" dirty="0">
                <a:solidFill>
                  <a:srgbClr val="23303A"/>
                </a:solidFill>
                <a:latin typeface="Cambria"/>
              </a:rPr>
              <a:t>talent</a:t>
            </a:r>
            <a:r>
              <a:rPr lang="fr-FR" sz="1400" dirty="0">
                <a:solidFill>
                  <a:srgbClr val="23303A"/>
                </a:solidFill>
                <a:latin typeface="Cambria"/>
              </a:rPr>
              <a:t> + σ²</a:t>
            </a:r>
            <a:r>
              <a:rPr lang="fr-FR" sz="1400" baseline="-25000" dirty="0">
                <a:solidFill>
                  <a:srgbClr val="23303A"/>
                </a:solidFill>
                <a:latin typeface="Cambria"/>
              </a:rPr>
              <a:t>chance</a:t>
            </a:r>
            <a:r>
              <a:rPr lang="fr-FR" sz="1400" dirty="0">
                <a:solidFill>
                  <a:srgbClr val="23303A"/>
                </a:solidFill>
                <a:latin typeface="Cambria"/>
              </a:rPr>
              <a:t> ⁄ n )</a:t>
            </a:r>
          </a:p>
          <a:p>
            <a:pPr algn="ctr">
              <a:spcBef>
                <a:spcPts val="400"/>
              </a:spcBef>
            </a:pPr>
            <a:r>
              <a:rPr lang="fr-FR" sz="1050" i="1" dirty="0">
                <a:solidFill>
                  <a:srgbClr val="5C6770"/>
                </a:solidFill>
                <a:latin typeface="Calibri"/>
              </a:rPr>
              <a:t>σ²</a:t>
            </a:r>
            <a:r>
              <a:rPr lang="fr-FR" sz="1050" i="1" baseline="-25000" dirty="0">
                <a:solidFill>
                  <a:srgbClr val="5C6770"/>
                </a:solidFill>
                <a:latin typeface="Calibri"/>
              </a:rPr>
              <a:t>chance</a:t>
            </a:r>
            <a:r>
              <a:rPr lang="fr-FR" sz="1050" i="1" dirty="0">
                <a:solidFill>
                  <a:srgbClr val="5C6770"/>
                </a:solidFill>
                <a:latin typeface="Calibri"/>
              </a:rPr>
              <a:t> = variance de ses propres trades (le bruit) ;  σ²</a:t>
            </a:r>
            <a:r>
              <a:rPr lang="fr-FR" sz="1050" i="1" baseline="-25000" dirty="0">
                <a:solidFill>
                  <a:srgbClr val="5C6770"/>
                </a:solidFill>
                <a:latin typeface="Calibri"/>
              </a:rPr>
              <a:t>talent</a:t>
            </a:r>
            <a:r>
              <a:rPr lang="fr-FR" sz="1050" i="1" dirty="0">
                <a:solidFill>
                  <a:srgbClr val="5C6770"/>
                </a:solidFill>
                <a:latin typeface="Calibri"/>
              </a:rPr>
              <a:t> = dispersion des Sharpe entre congressmen, une fois ce bruit retiré.</a:t>
            </a:r>
          </a:p>
        </p:txBody>
      </p:sp>
      <p:sp>
        <p:nvSpPr>
          <p:cNvPr id="18" name="Shape 14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7F1E7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640080" y="383133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950208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07008" y="3703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fr-FR" sz="1200" b="1" dirty="0">
                <a:solidFill>
                  <a:srgbClr val="2E7D32"/>
                </a:solidFill>
                <a:latin typeface="Calibri"/>
              </a:rPr>
              <a:t>Implication : </a:t>
            </a:r>
            <a:r>
              <a:rPr lang="fr-FR" sz="1200" dirty="0">
                <a:solidFill>
                  <a:srgbClr val="23303A"/>
                </a:solidFill>
                <a:latin typeface="Calibri"/>
              </a:rPr>
              <a:t>classer sur le Sharpe rétréci, pas le Sharpe brut ; exiger un nombre minimal de trades — w → 1 si n grand (on suit l’observation), w → 0 si n petit (on se rabat sur la moyenne du groupe).</a:t>
            </a:r>
          </a:p>
        </p:txBody>
      </p:sp>
    </p:spTree>
    <p:extLst>
      <p:ext uri="{BB962C8B-B14F-4D97-AF65-F5344CB8AC3E}">
        <p14:creationId xmlns:p14="http://schemas.microsoft.com/office/powerpoint/2010/main" val="16733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fr-FR" sz="2600" b="1" dirty="0">
                <a:solidFill>
                  <a:srgbClr val="1F4E79"/>
                </a:solidFill>
                <a:latin typeface="Cambria"/>
              </a:rPr>
              <a:t>Sutton &amp; Barto — exploration vs exploitation</a:t>
            </a:r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E3E1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40080" y="1225296"/>
            <a:ext cx="457200" cy="457200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344168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fr-FR" sz="1300" b="1" dirty="0">
                <a:solidFill>
                  <a:srgbClr val="1F4E79"/>
                </a:solidFill>
                <a:latin typeface="Calibri"/>
              </a:rPr>
              <a:t>L’idée : </a:t>
            </a:r>
            <a:r>
              <a:rPr lang="fr-FR" sz="1300" dirty="0">
                <a:solidFill>
                  <a:srgbClr val="23303A"/>
                </a:solidFill>
                <a:latin typeface="Calibri"/>
              </a:rPr>
              <a:t>dilemme exploration vs exploitation — exploiter les congressmen déjà repérés sans cesser d’explorer les autres.</a:t>
            </a:r>
          </a:p>
        </p:txBody>
      </p:sp>
      <p:sp>
        <p:nvSpPr>
          <p:cNvPr id="9" name="Shape 5"/>
          <p:cNvSpPr/>
          <p:nvPr/>
        </p:nvSpPr>
        <p:spPr>
          <a:xfrm>
            <a:off x="457200" y="2006600"/>
            <a:ext cx="8229600" cy="1651000"/>
          </a:xfrm>
          <a:prstGeom prst="roundRect">
            <a:avLst>
              <a:gd name="adj" fmla="val 4706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62000" y="2108200"/>
            <a:ext cx="762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250" i="1" dirty="0">
                <a:solidFill>
                  <a:srgbClr val="1F4E79"/>
                </a:solidFill>
                <a:latin typeface="Calibri"/>
              </a:rPr>
              <a:t>Deux stratégies</a:t>
            </a:r>
          </a:p>
        </p:txBody>
      </p:sp>
      <p:sp>
        <p:nvSpPr>
          <p:cNvPr id="11" name="Text 7"/>
          <p:cNvSpPr/>
          <p:nvPr/>
        </p:nvSpPr>
        <p:spPr>
          <a:xfrm>
            <a:off x="762000" y="2489200"/>
            <a:ext cx="7620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/>
            <a:r>
              <a:rPr lang="fr-FR" sz="1250" b="1" dirty="0">
                <a:solidFill>
                  <a:srgbClr val="1F4E79"/>
                </a:solidFill>
                <a:latin typeface="Calibri"/>
              </a:rPr>
              <a:t>① Greedy (glouton) : </a:t>
            </a:r>
            <a:r>
              <a:rPr lang="fr-FR" sz="1250" dirty="0">
                <a:solidFill>
                  <a:srgbClr val="23303A"/>
                </a:solidFill>
                <a:latin typeface="Cambria"/>
              </a:rPr>
              <a:t>S</a:t>
            </a:r>
            <a:r>
              <a:rPr lang="fr-FR" sz="1250" baseline="-25000" dirty="0">
                <a:solidFill>
                  <a:srgbClr val="23303A"/>
                </a:solidFill>
                <a:latin typeface="Cambria"/>
              </a:rPr>
              <a:t>y</a:t>
            </a:r>
            <a:r>
              <a:rPr lang="fr-FR" sz="1250" dirty="0">
                <a:solidFill>
                  <a:srgbClr val="23303A"/>
                </a:solidFill>
                <a:latin typeface="Cambria"/>
              </a:rPr>
              <a:t> = (K − m) meilleurs μ</a:t>
            </a:r>
            <a:r>
              <a:rPr lang="fr-FR" sz="1250" baseline="-25000" dirty="0">
                <a:solidFill>
                  <a:srgbClr val="23303A"/>
                </a:solidFill>
                <a:latin typeface="Cambria"/>
              </a:rPr>
              <a:t>c</a:t>
            </a:r>
            <a:r>
              <a:rPr lang="fr-FR" sz="1250" dirty="0">
                <a:solidFill>
                  <a:srgbClr val="23303A"/>
                </a:solidFill>
                <a:latin typeface="Cambria"/>
              </a:rPr>
              <a:t>  ∪  m au hasard</a:t>
            </a:r>
          </a:p>
          <a:p>
            <a:pPr marL="171450" indent="-171450" algn="l">
              <a:spcBef>
                <a:spcPts val="400"/>
              </a:spcBef>
            </a:pPr>
            <a:r>
              <a:rPr lang="fr-FR" sz="1250" b="1" dirty="0">
                <a:solidFill>
                  <a:srgbClr val="1F4E79"/>
                </a:solidFill>
                <a:latin typeface="Calibri"/>
              </a:rPr>
              <a:t>② UCB : </a:t>
            </a:r>
            <a:r>
              <a:rPr lang="fr-FR" sz="1250" dirty="0">
                <a:solidFill>
                  <a:srgbClr val="23303A"/>
                </a:solidFill>
                <a:latin typeface="Cambria"/>
              </a:rPr>
              <a:t>score = μ</a:t>
            </a:r>
            <a:r>
              <a:rPr lang="fr-FR" sz="1250" baseline="-25000" dirty="0">
                <a:solidFill>
                  <a:srgbClr val="23303A"/>
                </a:solidFill>
                <a:latin typeface="Cambria"/>
              </a:rPr>
              <a:t>c</a:t>
            </a:r>
            <a:r>
              <a:rPr lang="fr-FR" sz="1250" dirty="0">
                <a:solidFill>
                  <a:srgbClr val="23303A"/>
                </a:solidFill>
                <a:latin typeface="Cambria"/>
              </a:rPr>
              <a:t> + κ √( ln t ∕ N</a:t>
            </a:r>
            <a:r>
              <a:rPr lang="fr-FR" sz="1250" baseline="-25000" dirty="0">
                <a:solidFill>
                  <a:srgbClr val="23303A"/>
                </a:solidFill>
                <a:latin typeface="Cambria"/>
              </a:rPr>
              <a:t>c</a:t>
            </a:r>
            <a:r>
              <a:rPr lang="fr-FR" sz="1250" dirty="0">
                <a:solidFill>
                  <a:srgbClr val="23303A"/>
                </a:solidFill>
                <a:latin typeface="Cambria"/>
              </a:rPr>
              <a:t> )</a:t>
            </a:r>
          </a:p>
          <a:p>
            <a:pPr algn="l">
              <a:spcBef>
                <a:spcPts val="300"/>
              </a:spcBef>
            </a:pPr>
            <a:r>
              <a:rPr lang="fr-FR" sz="1050" i="1" dirty="0">
                <a:solidFill>
                  <a:srgbClr val="5C6770"/>
                </a:solidFill>
                <a:latin typeface="Calibri"/>
              </a:rPr>
              <a:t>UCB = moyenne + bonus d’incertitude : plus un congressman est observé (N grand), plus le bonus baisse.</a:t>
            </a:r>
          </a:p>
        </p:txBody>
      </p:sp>
      <p:sp>
        <p:nvSpPr>
          <p:cNvPr id="18" name="Shape 14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7F1E7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640080" y="383133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950208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07008" y="3703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fr-FR" sz="1200" b="1" dirty="0">
                <a:solidFill>
                  <a:srgbClr val="2E7D32"/>
                </a:solidFill>
                <a:latin typeface="Calibri"/>
              </a:rPr>
              <a:t>Implication : </a:t>
            </a:r>
            <a:r>
              <a:rPr lang="fr-FR" sz="1200" dirty="0">
                <a:solidFill>
                  <a:srgbClr val="23303A"/>
                </a:solidFill>
                <a:latin typeface="Calibri"/>
              </a:rPr>
              <a:t>un top-K par Sharpe pur = greedy avec m = 0 (zéro exploration). Mieux vaut garder un peu d’exploration (m &gt; 0) ou un score UCB.</a:t>
            </a:r>
          </a:p>
        </p:txBody>
      </p:sp>
    </p:spTree>
    <p:extLst>
      <p:ext uri="{BB962C8B-B14F-4D97-AF65-F5344CB8AC3E}">
        <p14:creationId xmlns:p14="http://schemas.microsoft.com/office/powerpoint/2010/main" val="3188477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dirty="0">
                <a:solidFill>
                  <a:srgbClr val="1F4E79"/>
                </a:solidFill>
                <a:latin typeface="Cambria" pitchFamily="34" charset="0"/>
              </a:rPr>
              <a:t>Grinold &amp; Kahn — la loi fondamentale</a:t>
            </a:r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E3E1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40080" y="1225296"/>
            <a:ext cx="457200" cy="457200"/>
          </a:xfrm>
          <a:prstGeom prst="ellipse">
            <a:avLst/>
          </a:prstGeom>
          <a:solidFill>
            <a:srgbClr val="B3261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1344168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10972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fr-FR" sz="1300" b="1" dirty="0">
                <a:solidFill>
                  <a:srgbClr val="1F4E79"/>
                </a:solidFill>
                <a:latin typeface="Calibri"/>
              </a:rPr>
              <a:t>L’idée : </a:t>
            </a:r>
            <a:r>
              <a:rPr lang="fr-FR" sz="1300" dirty="0">
                <a:solidFill>
                  <a:srgbClr val="23303A"/>
                </a:solidFill>
                <a:latin typeface="Calibri"/>
              </a:rPr>
              <a:t>la performance ajustée du risque dépend de la qualité du signal ET du nombre de paris indépendants.</a:t>
            </a:r>
          </a:p>
        </p:txBody>
      </p:sp>
      <p:sp>
        <p:nvSpPr>
          <p:cNvPr id="9" name="Shape 5"/>
          <p:cNvSpPr/>
          <p:nvPr/>
        </p:nvSpPr>
        <p:spPr>
          <a:xfrm>
            <a:off x="457200" y="2006600"/>
            <a:ext cx="8229600" cy="1651000"/>
          </a:xfrm>
          <a:prstGeom prst="roundRect">
            <a:avLst>
              <a:gd name="adj" fmla="val 4706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762000" y="2108200"/>
            <a:ext cx="762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250" i="1" dirty="0">
                <a:solidFill>
                  <a:srgbClr val="1F4E79"/>
                </a:solidFill>
                <a:latin typeface="Calibri"/>
              </a:rPr>
              <a:t>Loi fondamentale de la gestion active</a:t>
            </a:r>
          </a:p>
        </p:txBody>
      </p:sp>
      <p:sp>
        <p:nvSpPr>
          <p:cNvPr id="11" name="Text 7"/>
          <p:cNvSpPr/>
          <p:nvPr/>
        </p:nvSpPr>
        <p:spPr>
          <a:xfrm>
            <a:off x="762000" y="2489200"/>
            <a:ext cx="7620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900" dirty="0">
                <a:solidFill>
                  <a:srgbClr val="23303A"/>
                </a:solidFill>
                <a:latin typeface="Cambria"/>
              </a:rPr>
              <a:t>IR  ≈  IC × √BR</a:t>
            </a:r>
          </a:p>
          <a:p>
            <a:pPr algn="ctr">
              <a:spcBef>
                <a:spcPts val="400"/>
              </a:spcBef>
            </a:pPr>
            <a:r>
              <a:rPr lang="fr-FR" sz="1200" dirty="0">
                <a:solidFill>
                  <a:srgbClr val="23303A"/>
                </a:solidFill>
                <a:latin typeface="Calibri"/>
              </a:rPr>
              <a:t>IR = ratio d’information · IC = coefficient d’information · BR = nombre de paris indépendants</a:t>
            </a:r>
          </a:p>
          <a:p>
            <a:pPr algn="ctr">
              <a:spcBef>
                <a:spcPts val="300"/>
              </a:spcBef>
            </a:pPr>
            <a:r>
              <a:rPr lang="fr-FR" sz="1050" i="1" dirty="0">
                <a:solidFill>
                  <a:srgbClr val="5C6770"/>
                </a:solidFill>
                <a:latin typeface="Calibri"/>
              </a:rPr>
              <a:t>On compte les paris, pas les gens : 1 congressman × 20 trades distincts = 20 paris ; 10 congressmen sur le même ticker = 1 seul pari.</a:t>
            </a:r>
          </a:p>
        </p:txBody>
      </p:sp>
      <p:sp>
        <p:nvSpPr>
          <p:cNvPr id="18" name="Shape 14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7F1E7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640080" y="383133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950208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07008" y="3703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fr-FR" sz="1200" b="1" dirty="0">
                <a:solidFill>
                  <a:srgbClr val="2E7D32"/>
                </a:solidFill>
                <a:latin typeface="Calibri"/>
              </a:rPr>
              <a:t>Choix de K : </a:t>
            </a:r>
            <a:r>
              <a:rPr lang="fr-FR" sz="1200" dirty="0">
                <a:solidFill>
                  <a:srgbClr val="23303A"/>
                </a:solidFill>
                <a:latin typeface="Calibri"/>
              </a:rPr>
              <a:t>Grinold pousse K vers le haut (largeur), Mauboussin vers le bas (éviter les profils à peu de trades) ; le filtre commissions — Finance, Defense, Intelligence — plafonne le vivier.</a:t>
            </a:r>
          </a:p>
        </p:txBody>
      </p:sp>
    </p:spTree>
    <p:extLst>
      <p:ext uri="{BB962C8B-B14F-4D97-AF65-F5344CB8AC3E}">
        <p14:creationId xmlns:p14="http://schemas.microsoft.com/office/powerpoint/2010/main" val="3718894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pièges du backtest (De Prado)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03504" y="1179576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1298448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097280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 bias — </a:t>
            </a: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entrer à la disclosure_date + données point-in-time (commissions, tickers d'époque).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57200" y="1810512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3F6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6"/>
          <p:cNvSpPr/>
          <p:nvPr/>
        </p:nvSpPr>
        <p:spPr>
          <a:xfrm>
            <a:off x="603504" y="18928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201168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1810512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Surajustement de backtest — </a:t>
            </a: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trop de variantes → fixer la méthodo, compter les essais, dégonfler le Sharpe.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57200" y="2523744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603504" y="260604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272491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2523744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bias — </a:t>
            </a: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inclure les titres délistés et les élus ayant quitté le Congrès.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57200" y="3236976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F3F6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2"/>
          <p:cNvSpPr/>
          <p:nvPr/>
        </p:nvSpPr>
        <p:spPr>
          <a:xfrm>
            <a:off x="603504" y="33192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3438144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3236976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snooping — </a:t>
            </a: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walk-forward ; validation croisée purgée.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457200" y="3950208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5"/>
          <p:cNvSpPr/>
          <p:nvPr/>
        </p:nvSpPr>
        <p:spPr>
          <a:xfrm>
            <a:off x="603504" y="4032504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" y="4151376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88720" y="3950208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Coûts, liquidité, capacité — </a:t>
            </a: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frais, spread, slippage → argument fort en faveur de la V2 (ETF liquides).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DD9B917-9869-034A-BECD-92FA30C5D1E1}"/>
              </a:ext>
            </a:extLst>
          </p:cNvPr>
          <p:cNvSpPr txBox="1"/>
          <p:nvPr/>
        </p:nvSpPr>
        <p:spPr>
          <a:xfrm>
            <a:off x="914400" y="1549400"/>
            <a:ext cx="5588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C2730B"/>
                </a:solidFill>
                <a:latin typeface="Calibri"/>
                <a:cs typeface="Calibri"/>
              </a:rPr>
              <a:t>PARTIE II · JOUR 1-2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BD88A96-429E-114E-9E79-67C5FC90AE9B}"/>
              </a:ext>
            </a:extLst>
          </p:cNvPr>
          <p:cNvSpPr txBox="1"/>
          <p:nvPr/>
        </p:nvSpPr>
        <p:spPr>
          <a:xfrm>
            <a:off x="914400" y="1905000"/>
            <a:ext cx="79248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3600" b="1">
                <a:solidFill>
                  <a:srgbClr val="1F4E79"/>
                </a:solidFill>
                <a:latin typeface="Cambria"/>
              </a:rPr>
              <a:t>Audit &amp; récupération des sources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AB6431-C93A-184F-A7B3-6E9B221964A7}"/>
              </a:ext>
            </a:extLst>
          </p:cNvPr>
          <p:cNvSpPr/>
          <p:nvPr/>
        </p:nvSpPr>
        <p:spPr>
          <a:xfrm>
            <a:off x="939800" y="2921000"/>
            <a:ext cx="1524000" cy="381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CB6CE1F-7D8D-764A-8CDD-7DD5B507C3C1}"/>
              </a:ext>
            </a:extLst>
          </p:cNvPr>
          <p:cNvSpPr txBox="1"/>
          <p:nvPr/>
        </p:nvSpPr>
        <p:spPr>
          <a:xfrm>
            <a:off x="914400" y="3124200"/>
            <a:ext cx="7112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600">
                <a:solidFill>
                  <a:srgbClr val="5C6770"/>
                </a:solidFill>
                <a:latin typeface="Calibri"/>
                <a:cs typeface="Calibri"/>
              </a:rPr>
              <a:t>Du portail public au PDF exploitable</a:t>
            </a:r>
          </a:p>
        </p:txBody>
      </p:sp>
    </p:spTree>
    <p:extLst>
      <p:ext uri="{BB962C8B-B14F-4D97-AF65-F5344CB8AC3E}">
        <p14:creationId xmlns:p14="http://schemas.microsoft.com/office/powerpoint/2010/main" val="3108771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— source primaire #1 (propre)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annuel </a:t>
            </a:r>
            <a:r>
              <a:rPr lang="en-US" sz="1300" dirty="0">
                <a:solidFill>
                  <a:srgbClr val="23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&lt;ANNÉE&gt;FD.zip</a:t>
            </a:r>
            <a:r>
              <a:rPr lang="en-US" sz="13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index </a:t>
            </a:r>
            <a:r>
              <a:rPr lang="en-US" sz="1300" dirty="0">
                <a:solidFill>
                  <a:srgbClr val="23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filtrer </a:t>
            </a:r>
            <a:r>
              <a:rPr lang="en-US" sz="1300" b="1" dirty="0">
                <a:solidFill>
                  <a:srgbClr val="23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FilingType = P</a:t>
            </a:r>
            <a:r>
              <a:rPr lang="en-US" sz="13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(PTR)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PDF par </a:t>
            </a:r>
            <a:r>
              <a:rPr lang="en-US" sz="1300" dirty="0">
                <a:solidFill>
                  <a:srgbClr val="23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DocID</a:t>
            </a:r>
            <a:r>
              <a:rPr lang="en-US" sz="13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texte natif (machine)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63440" y="1078992"/>
            <a:ext cx="40690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0"/>
          <p:cNvSpPr/>
          <p:nvPr/>
        </p:nvSpPr>
        <p:spPr>
          <a:xfrm>
            <a:off x="4800600" y="1143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réel 2013–2026 — historique PTR exploitable : 2014 → 2026</a:t>
            </a:r>
            <a:endParaRPr lang="en-US" sz="850" dirty="0"/>
          </a:p>
        </p:txBody>
      </p:sp>
      <p:pic>
        <p:nvPicPr>
          <p:cNvPr id="16" name="Image 3" descr="assets/house_ye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389888"/>
            <a:ext cx="3749040" cy="38404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663440" y="2194560"/>
            <a:ext cx="4069080" cy="329184"/>
          </a:xfrm>
          <a:prstGeom prst="roundRect">
            <a:avLst>
              <a:gd name="adj" fmla="val 11111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2"/>
          <p:cNvSpPr/>
          <p:nvPr/>
        </p:nvSpPr>
        <p:spPr>
          <a:xfrm>
            <a:off x="4754880" y="21945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— 2025FD.xml (index réel)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663440" y="2523744"/>
            <a:ext cx="4069080" cy="1371600"/>
          </a:xfrm>
          <a:prstGeom prst="rect">
            <a:avLst/>
          </a:prstGeom>
          <a:solidFill>
            <a:srgbClr val="F5F7F9"/>
          </a:solidFill>
          <a:ln w="12700">
            <a:solidFill>
              <a:srgbClr val="D9E0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4"/>
          <p:cNvSpPr/>
          <p:nvPr/>
        </p:nvSpPr>
        <p:spPr>
          <a:xfrm>
            <a:off x="4818888" y="2615184"/>
            <a:ext cx="38404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3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&lt;Member&gt;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3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&lt;Last&gt;Aderholt&lt;/Last&gt;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&lt;FilingType&gt;P&lt;/FilingType&gt;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3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&lt;FilingDate&gt;9/10/2025&lt;/FilingDate&gt;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3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&lt;DocID&gt;20032062&lt;/DocID&gt;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33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&lt;/Member&gt;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 années OK · 37 445 dépôts · 8 248 PTR · index 2025 : 515 PTR · lien index→PDF vérifié (DocID = Filing ID).</a:t>
            </a:r>
            <a:endParaRPr lang="en-US" sz="900" dirty="0"/>
          </a:p>
        </p:txBody>
      </p:sp>
      <p:sp>
        <p:nvSpPr>
          <p:cNvPr id="30" name="RecupererPDF"/>
          <p:cNvSpPr/>
          <p:nvPr/>
        </p:nvSpPr>
        <p:spPr>
          <a:xfrm>
            <a:off x="457200" y="2336800"/>
            <a:ext cx="4114800" cy="1304616"/>
          </a:xfrm>
          <a:prstGeom prst="roundRect">
            <a:avLst>
              <a:gd name="adj" fmla="val 5000"/>
            </a:avLst>
          </a:prstGeom>
          <a:solidFill>
            <a:srgbClr val="EAF1F8"/>
          </a:solidFill>
          <a:ln w="9525">
            <a:solidFill>
              <a:srgbClr val="BAD0E6"/>
            </a:solidFill>
          </a:ln>
        </p:spPr>
        <p:txBody>
          <a:bodyPr wrap="square" lIns="109728" tIns="73152" rIns="109728" bIns="73152" anchor="t"/>
          <a:lstStyle/>
          <a:p>
            <a:pPr marL="0" indent="0">
              <a:spcAft>
                <a:spcPts val="500"/>
              </a:spcAft>
              <a:buNone/>
            </a:pPr>
            <a:r>
              <a:rPr lang="fr-FR" sz="1300" b="1" dirty="0">
                <a:solidFill>
                  <a:srgbClr val="1F4E79"/>
                </a:solidFill>
                <a:latin typeface="Calibri"/>
              </a:rPr>
              <a:t>Récupérer le PDF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fr-FR" sz="1150" dirty="0">
                <a:solidFill>
                  <a:srgbClr val="23303A"/>
                </a:solidFill>
                <a:latin typeface="Calibri"/>
              </a:rPr>
              <a:t>Le DocID de l’index XML construit l’URL du PDF :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fr-FR" sz="1100" dirty="0">
                <a:solidFill>
                  <a:srgbClr val="23303A"/>
                </a:solidFill>
                <a:latin typeface="Courier New"/>
              </a:rPr>
              <a:t>…/ptr-pdfs/</a:t>
            </a:r>
            <a:r>
              <a:rPr lang="fr-FR" sz="1100" b="1" dirty="0">
                <a:solidFill>
                  <a:srgbClr val="C2730B"/>
                </a:solidFill>
                <a:latin typeface="Courier New"/>
              </a:rPr>
              <a:t>&lt;ANNÉE&gt;</a:t>
            </a:r>
            <a:r>
              <a:rPr lang="fr-FR" sz="1100" dirty="0">
                <a:solidFill>
                  <a:srgbClr val="23303A"/>
                </a:solidFill>
                <a:latin typeface="Courier New"/>
              </a:rPr>
              <a:t>/</a:t>
            </a:r>
            <a:r>
              <a:rPr lang="fr-FR" sz="1100" b="1" dirty="0">
                <a:solidFill>
                  <a:srgbClr val="C2730B"/>
                </a:solidFill>
                <a:latin typeface="Courier New"/>
              </a:rPr>
              <a:t>&lt;DocID&gt;</a:t>
            </a:r>
            <a:r>
              <a:rPr lang="fr-FR" sz="1100" dirty="0">
                <a:solidFill>
                  <a:srgbClr val="23303A"/>
                </a:solidFill>
                <a:latin typeface="Courier New"/>
              </a:rPr>
              <a:t>.pdf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fr-FR" sz="1000" b="1" dirty="0">
                <a:solidFill>
                  <a:srgbClr val="2E7D32"/>
                </a:solidFill>
                <a:latin typeface="Calibri"/>
              </a:rPr>
              <a:t>Exemple — DocID 20034201, année 2026 :</a:t>
            </a:r>
          </a:p>
          <a:p>
            <a:pPr marL="0" indent="0">
              <a:buNone/>
            </a:pPr>
            <a:r>
              <a:rPr lang="fr-FR" sz="950" dirty="0">
                <a:solidFill>
                  <a:srgbClr val="1F4E79"/>
                </a:solidFill>
                <a:latin typeface="Courier New"/>
              </a:rPr>
              <a:t>disclosures-clerk.house.gov/public_disc/ptr-pdfs/2026/20034201.pdf</a:t>
            </a:r>
          </a:p>
        </p:txBody>
      </p:sp>
    </p:spTree>
    <p:extLst>
      <p:ext uri="{BB962C8B-B14F-4D97-AF65-F5344CB8AC3E}">
        <p14:creationId xmlns:p14="http://schemas.microsoft.com/office/powerpoint/2010/main" val="171049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dirty="0">
                <a:solidFill>
                  <a:srgbClr val="1F4E79"/>
                </a:solidFill>
                <a:latin typeface="Cambria" pitchFamily="34" charset="0"/>
              </a:rPr>
              <a:t>Matrice de couverture House (résultat)</a:t>
            </a:r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BEFDD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76656" y="1371600"/>
            <a:ext cx="548640" cy="548640"/>
          </a:xfrm>
          <a:prstGeom prst="ellipse">
            <a:avLst/>
          </a:prstGeom>
          <a:solidFill>
            <a:srgbClr val="C273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" y="151424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22529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dirty="0">
                <a:solidFill>
                  <a:srgbClr val="C2730B"/>
                </a:solidFill>
                <a:latin typeface="Cambria" pitchFamily="34" charset="0"/>
              </a:rPr>
              <a:t>Trois constats</a:t>
            </a:r>
          </a:p>
        </p:txBody>
      </p:sp>
      <p:sp>
        <p:nvSpPr>
          <p:cNvPr id="9" name="Text 5"/>
          <p:cNvSpPr/>
          <p:nvPr/>
        </p:nvSpPr>
        <p:spPr>
          <a:xfrm>
            <a:off x="1371600" y="166420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23303A"/>
                </a:solidFill>
                <a:latin typeface="Calibri" pitchFamily="34" charset="0"/>
              </a:rPr>
              <a:t>(1) série dense à partir de 2014 (2013 = 8)   ·   (2) aucun trou sur 2014–2025   ·   (3) déclin ≈ 40 % depuis le pic 2018 → largeur (BR) réduite.</a:t>
            </a:r>
          </a:p>
        </p:txBody>
      </p:sp>
      <p:pic>
        <p:nvPicPr>
          <p:cNvPr id="30" name="Chart PTR" descr="PTR par ann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50000"/>
            <a:ext cx="8229600" cy="25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621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660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Circle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PDF</a:t>
            </a:r>
            <a:endParaRPr lang="fr-FR"/>
          </a:p>
        </p:txBody>
      </p:sp>
      <p:sp>
        <p:nvSpPr>
          <p:cNvPr id="4" name="Title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— anatomie d'un PTR (le PDF)</a:t>
            </a:r>
            <a:endParaRPr lang="en-US" sz="2600" dirty="0"/>
          </a:p>
        </p:txBody>
      </p:sp>
      <p:sp>
        <p:nvSpPr>
          <p:cNvPr id="20" name="Block1"/>
          <p:cNvSpPr/>
          <p:nvPr/>
        </p:nvSpPr>
        <p:spPr>
          <a:xfrm>
            <a:off x="457200" y="1060000"/>
            <a:ext cx="4160520" cy="8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</a:rPr>
              <a:t>①  En-tête &amp; identité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</a:rPr>
              <a:t>Filing ID #20034201 = le DocID de l'index. Name + State/District (MO04) → declarant_name, chambre, district.</a:t>
            </a:r>
            <a:endParaRPr lang="en-US" sz="1100" dirty="0"/>
          </a:p>
        </p:txBody>
      </p:sp>
      <p:sp>
        <p:nvSpPr>
          <p:cNvPr id="21" name="Block2"/>
          <p:cNvSpPr/>
          <p:nvPr/>
        </p:nvSpPr>
        <p:spPr>
          <a:xfrm>
            <a:off x="457200" y="1910000"/>
            <a:ext cx="4160520" cy="10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</a:rPr>
              <a:t>②  Asset, ticker &amp; montant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</a:rPr>
              <a:t>Ticker pas toujours propre : « Invesco QQQ » sans parenthèses, BRK.B avec point, T une lettre → à reconstruire. [ST]/[OT] → asset_type. Montant en fourchette ($1 001–15 000) → midpoint 8 000,5.</a:t>
            </a:r>
            <a:endParaRPr lang="en-US" sz="1100" dirty="0"/>
          </a:p>
        </p:txBody>
      </p:sp>
      <p:sp>
        <p:nvSpPr>
          <p:cNvPr id="22" name="Block3"/>
          <p:cNvSpPr/>
          <p:nvPr/>
        </p:nvSpPr>
        <p:spPr>
          <a:xfrm>
            <a:off x="457200" y="2960000"/>
            <a:ext cx="4160520" cy="76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</a:rPr>
              <a:t>③  Les deux dates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</a:rPr>
              <a:t>Transaction = 16/03. La vraie disclosure_date est la FilingDate de l'index XML (31/03, signature), PAS la colonne « Notification Date » du tableau.</a:t>
            </a:r>
            <a:endParaRPr lang="en-US" sz="1100" dirty="0"/>
          </a:p>
        </p:txBody>
      </p:sp>
      <p:sp>
        <p:nvSpPr>
          <p:cNvPr id="23" name="Block4Trap"/>
          <p:cNvSpPr/>
          <p:nvPr/>
        </p:nvSpPr>
        <p:spPr>
          <a:xfrm>
            <a:off x="457200" y="3780000"/>
            <a:ext cx="4160520" cy="1000000"/>
          </a:xfrm>
          <a:prstGeom prst="roundRect">
            <a:avLst>
              <a:gd name="adj" fmla="val 6000"/>
            </a:avLst>
          </a:prstGeom>
          <a:solidFill>
            <a:srgbClr val="FBEFDD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 wrap="square" lIns="160020" tIns="118872" rIns="160020" bIns="118872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2730B"/>
                </a:solidFill>
                <a:latin typeface="Calibri" pitchFamily="34" charset="0"/>
              </a:rPr>
              <a:t>④  Piège — la vente groupée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3303A"/>
                </a:solidFill>
                <a:latin typeface="Calibri" pitchFamily="34" charset="0"/>
              </a:rPr>
              <a:t>Une seule vente réelle (9 titres le 16/03) → 9 lignes, chacune répétant la même Description. Règle : une ligne = une transaction (ne pas relire la Description).</a:t>
            </a:r>
            <a:endParaRPr lang="en-US" sz="1100" dirty="0"/>
          </a:p>
        </p:txBody>
      </p:sp>
      <p:sp>
        <p:nvSpPr>
          <p:cNvPr id="8" name="PdfFrame"/>
          <p:cNvSpPr/>
          <p:nvPr/>
        </p:nvSpPr>
        <p:spPr>
          <a:xfrm>
            <a:off x="4800600" y="1060000"/>
            <a:ext cx="3931920" cy="3720000"/>
          </a:xfrm>
          <a:prstGeom prst="roundRect">
            <a:avLst>
              <a:gd name="adj" fmla="val 2200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PdfCaption"/>
          <p:cNvSpPr/>
          <p:nvPr/>
        </p:nvSpPr>
        <p:spPr>
          <a:xfrm>
            <a:off x="4937760" y="11430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770"/>
                </a:solidFill>
                <a:latin typeface="Calibri" pitchFamily="34" charset="0"/>
              </a:rPr>
              <a:t>PDF réel — 2026/20034201.pdf · Hon. Mark Alford (MO04)</a:t>
            </a:r>
            <a:endParaRPr lang="en-US" sz="900" dirty="0"/>
          </a:p>
        </p:txBody>
      </p:sp>
      <p:pic>
        <p:nvPicPr>
          <p:cNvPr id="10" name="PdfImage" descr="p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00" y="1435100"/>
            <a:ext cx="2908300" cy="3276600"/>
          </a:xfrm>
          <a:prstGeom prst="rect">
            <a:avLst/>
          </a:prstGeom>
        </p:spPr>
      </p:pic>
      <p:sp>
        <p:nvSpPr>
          <p:cNvPr id="11" name="Footer"/>
          <p:cNvSpPr/>
          <p:nvPr/>
        </p:nvSpPr>
        <p:spPr>
          <a:xfrm>
            <a:off x="457200" y="4880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770"/>
                </a:solidFill>
                <a:latin typeface="Calibri" pitchFamily="34" charset="0"/>
              </a:rPr>
              <a:t>Une ligne du tableau = une transaction. PDF en texte natif (pas d'OCR), il alimente l'extraction LLM. Amendements : point ouvert (cf. taxonomie).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Senate — format mixte : électronique vs scanné (preuves)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97280"/>
            <a:ext cx="44805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1" descr="assets/senate_ptr_el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16152"/>
            <a:ext cx="4206240" cy="18196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32461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Électronique (HTML propre) — directement parsable. </a:t>
            </a: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J. Banks · YUM · Sale (Full) · 02/18/2025 · $1 001–$15 000.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074920" y="1097280"/>
            <a:ext cx="37033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0E6"/>
            </a:solidFill>
            <a:prstDash val="solid"/>
          </a:ln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9" name="Image 2" descr="assets/senate_sc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1207008"/>
            <a:ext cx="2057400" cy="16367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20640" y="32461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 scanné → OCR nécessaire. </a:t>
            </a:r>
            <a:r>
              <a:rPr lang="en-US" sz="110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R. Blumenthal (formulaire papier, croix manuscrites).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officielle eFD confirme les deux cas : « either electronically (text) or on paper (images) » → parseur HTML + OCR.</a:t>
            </a:r>
            <a:endParaRPr lang="en-US" sz="900" dirty="0"/>
          </a:p>
        </p:txBody>
      </p:sp>
      <p:sp>
        <p:nvSpPr>
          <p:cNvPr id="30" name="Nuance 6 ans"/>
          <p:cNvSpPr/>
          <p:nvPr/>
        </p:nvSpPr>
        <p:spPr>
          <a:xfrm>
            <a:off x="457200" y="4140200"/>
            <a:ext cx="8229600" cy="609600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9525">
            <a:solidFill>
              <a:srgbClr val="E0C9A6"/>
            </a:solidFill>
          </a:ln>
        </p:spPr>
        <p:txBody>
          <a:bodyPr wrap="square" lIns="100000" tIns="36000" rIns="100000" bIns="36000" anchor="ctr"/>
          <a:lstStyle/>
          <a:p>
            <a:pPr marL="0" indent="0" algn="l">
              <a:buNone/>
            </a:pPr>
            <a:r>
              <a:rPr lang="fr-FR" sz="1050" b="1" dirty="0">
                <a:solidFill>
                  <a:srgbClr val="C2730B"/>
                </a:solidFill>
                <a:latin typeface="Calibri"/>
              </a:rPr>
              <a:t>Nuance « 6 ans » : </a:t>
            </a:r>
            <a:r>
              <a:rPr lang="fr-FR" sz="1050" dirty="0">
                <a:solidFill>
                  <a:srgbClr val="23303A"/>
                </a:solidFill>
                <a:latin typeface="Calibri"/>
              </a:rPr>
              <a:t>Les 6 ans courent après le départ du sénateur — pas « les 6 dernières années » : en poste → historique depuis 2012. Pas d'archive de masse comme la House (recherche + session). Trou = sénateurs partis avant ~2020, à lister nommément.</a:t>
            </a:r>
          </a:p>
        </p:txBody>
      </p:sp>
    </p:spTree>
    <p:extLst>
      <p:ext uri="{BB962C8B-B14F-4D97-AF65-F5344CB8AC3E}">
        <p14:creationId xmlns:p14="http://schemas.microsoft.com/office/powerpoint/2010/main" val="2630385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Agrégateurs tiers — Quiver &amp; Capitol Trades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3F6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713232" y="1371600"/>
            <a:ext cx="548640" cy="54864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" y="151424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53312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Quiver Quantitative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1520" y="20116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janvier 2016 · 1 800 actions · quotidien · scrape SEC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API : Representative, ReportDate, TransactionDate, Ticker, Transaction, Range, House, Amount, Party…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Payant : ~30 → 75 $/mois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73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droits commerciaux hors tier Commercial (devis) — enjeu pour Ramify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~1 800 actions (hors-univers, options, obligations exclus) ; pas avant 2016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663440" y="114300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3F6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4919472" y="13716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2118" y="151424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59552" y="13716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Capitol Trades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937760" y="20116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(2iQ Research)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Senate eFD + House Clerk ; recoupement membres via API ProPublica — désormais fermée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du site : 3 dernières années seulement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Mauvais fallback historique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pour vérifier visuellement des cas récents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Circle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{ }</a:t>
            </a:r>
            <a:endParaRPr lang="fr-FR"/>
          </a:p>
        </p:txBody>
      </p:sp>
      <p:sp>
        <p:nvSpPr>
          <p:cNvPr id="4" name="Title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/>
                <a:cs typeface="Cambria"/>
              </a:rPr>
              <a:t>Agrégateurs — aperçu de la donnée</a:t>
            </a:r>
            <a:endParaRPr lang="en-US" sz="2600" dirty="0"/>
          </a:p>
        </p:txBody>
      </p:sp>
      <p:sp>
        <p:nvSpPr>
          <p:cNvPr id="5" name="Intro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303A"/>
                </a:solidFill>
                <a:latin typeface="Calibri" pitchFamily="34" charset="0"/>
              </a:rPr>
              <a:t>Comment juger un agrégateur : regarder la réponse API (Quiver) et l'interface (Capitol Trades), puis vérifier les champs et la couverture.</a:t>
            </a:r>
            <a:endParaRPr lang="en-US" sz="1200" dirty="0"/>
          </a:p>
        </p:txBody>
      </p:sp>
      <p:sp>
        <p:nvSpPr>
          <p:cNvPr id="10" name="QuiverHeader"/>
          <p:cNvSpPr/>
          <p:nvPr/>
        </p:nvSpPr>
        <p:spPr>
          <a:xfrm>
            <a:off x="457200" y="1426464"/>
            <a:ext cx="5212080" cy="329184"/>
          </a:xfrm>
          <a:prstGeom prst="roundRect">
            <a:avLst>
              <a:gd name="adj" fmla="val 11111"/>
            </a:avLst>
          </a:prstGeom>
          <a:solidFill>
            <a:srgbClr val="1F4E79"/>
          </a:solidFill>
          <a:ln/>
        </p:spPr>
        <p:txBody>
          <a:bodyPr lIns="13716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Quiver — réponse API réelle (JSON)</a:t>
            </a:r>
            <a:endParaRPr lang="en-US" sz="1100" dirty="0"/>
          </a:p>
        </p:txBody>
      </p:sp>
      <p:sp>
        <p:nvSpPr>
          <p:cNvPr id="11" name="QuiverCode"/>
          <p:cNvSpPr/>
          <p:nvPr/>
        </p:nvSpPr>
        <p:spPr>
          <a:xfrm>
            <a:off x="457200" y="1755648"/>
            <a:ext cx="5212080" cy="2331720"/>
          </a:xfrm>
          <a:prstGeom prst="rect">
            <a:avLst/>
          </a:prstGeom>
          <a:solidFill>
            <a:srgbClr val="F5F7F9"/>
          </a:solidFill>
          <a:ln w="12700">
            <a:solidFill>
              <a:srgbClr val="D9E0E6"/>
            </a:solidFill>
            <a:prstDash val="solid"/>
          </a:ln>
        </p:spPr>
        <p:txBody>
          <a:bodyPr wrap="square" lIns="137160" tIns="91440" rIns="91440" bIns="9144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3303A"/>
                </a:solidFill>
                <a:latin typeface="Courier New" pitchFamily="34" charset="0"/>
              </a:rPr>
              <a:t>{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3303A"/>
                </a:solidFill>
                <a:latin typeface="Courier New" pitchFamily="34" charset="0"/>
              </a:rPr>
              <a:t>  "Representative": "John Boozman",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1F4E79"/>
                </a:solidFill>
                <a:latin typeface="Courier New" pitchFamily="34" charset="0"/>
              </a:rPr>
              <a:t>  "ReportDate": "2026-05-18",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1F4E79"/>
                </a:solidFill>
                <a:latin typeface="Courier New" pitchFamily="34" charset="0"/>
              </a:rPr>
              <a:t>  "TransactionDate": "2026-05-15",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3303A"/>
                </a:solidFill>
                <a:latin typeface="Courier New" pitchFamily="34" charset="0"/>
              </a:rPr>
              <a:t>  "Ticker": "NVDA",  "Transaction": "Purchase",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3303A"/>
                </a:solidFill>
                <a:latin typeface="Courier New" pitchFamily="34" charset="0"/>
              </a:rPr>
              <a:t>  "Range": "$1,001 - $15,000",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3303A"/>
                </a:solidFill>
                <a:latin typeface="Courier New" pitchFamily="34" charset="0"/>
              </a:rPr>
              <a:t>  "House": "Senate",  "Party": "Republican",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3303A"/>
                </a:solidFill>
                <a:latin typeface="Courier New" pitchFamily="34" charset="0"/>
              </a:rPr>
              <a:t>  "TickerType": "Stock",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950" i="1" dirty="0">
                <a:solidFill>
                  <a:srgbClr val="5C6770"/>
                </a:solidFill>
                <a:latin typeface="Courier New" pitchFamily="34" charset="0"/>
              </a:rPr>
              <a:t>  "ExcessReturn": "5.19%"   (bonus)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3303A"/>
                </a:solidFill>
                <a:latin typeface="Courier New" pitchFamily="34" charset="0"/>
              </a:rPr>
              <a:t>}</a:t>
            </a:r>
          </a:p>
        </p:txBody>
      </p:sp>
      <p:sp>
        <p:nvSpPr>
          <p:cNvPr id="12" name="QuiverVerdict"/>
          <p:cNvSpPr/>
          <p:nvPr/>
        </p:nvSpPr>
        <p:spPr>
          <a:xfrm>
            <a:off x="457200" y="4187952"/>
            <a:ext cx="5212080" cy="640080"/>
          </a:xfrm>
          <a:prstGeom prst="roundRect">
            <a:avLst>
              <a:gd name="adj" fmla="val 8000"/>
            </a:avLst>
          </a:prstGeom>
          <a:solidFill>
            <a:srgbClr val="EAF0F6"/>
          </a:solidFill>
          <a:ln/>
        </p:spPr>
        <p:txBody>
          <a:bodyPr wrap="square" lIns="137160" tIns="68580" rIns="137160" bIns="6858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  <a:latin typeface="Calibri" pitchFamily="34" charset="0"/>
              </a:rPr>
              <a:t>Aperçu : </a:t>
            </a:r>
            <a:r>
              <a:rPr lang="en-US" sz="1000" dirty="0">
                <a:solidFill>
                  <a:srgbClr val="23303A"/>
                </a:solidFill>
                <a:latin typeface="Calibri" pitchFamily="34" charset="0"/>
              </a:rPr>
              <a:t>les 2 dates présentes (Report + Transaction). Depuis 2016, ~1 800 actions, ~30 $/mois. Pas de droits commerciaux hors tier dédié.</a:t>
            </a:r>
            <a:endParaRPr lang="en-US" sz="1000" dirty="0"/>
          </a:p>
        </p:txBody>
      </p:sp>
      <p:sp>
        <p:nvSpPr>
          <p:cNvPr id="20" name="CTHeader"/>
          <p:cNvSpPr/>
          <p:nvPr/>
        </p:nvSpPr>
        <p:spPr>
          <a:xfrm>
            <a:off x="5851560" y="1426464"/>
            <a:ext cx="2835240" cy="329184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/>
        </p:spPr>
        <p:txBody>
          <a:bodyPr lIns="13716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Capitol Trades — interface</a:t>
            </a:r>
            <a:endParaRPr lang="en-US" sz="1100" dirty="0"/>
          </a:p>
        </p:txBody>
      </p:sp>
      <p:sp>
        <p:nvSpPr>
          <p:cNvPr id="21" name="CTBody"/>
          <p:cNvSpPr/>
          <p:nvPr/>
        </p:nvSpPr>
        <p:spPr>
          <a:xfrm>
            <a:off x="5851560" y="1755648"/>
            <a:ext cx="2835240" cy="2331720"/>
          </a:xfrm>
          <a:prstGeom prst="roundRect">
            <a:avLst>
              <a:gd name="adj" fmla="val 3500"/>
            </a:avLst>
          </a:prstGeom>
          <a:solidFill>
            <a:srgbClr val="E7F1E7"/>
          </a:solidFill>
          <a:ln/>
        </p:spPr>
        <p:txBody>
          <a:bodyPr wrap="square" lIns="137160" tIns="114300" rIns="137160" bIns="9144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3303A"/>
                </a:solidFill>
                <a:latin typeface="Calibri" pitchFamily="34" charset="0"/>
              </a:rPr>
              <a:t>Gratuit, sans compte. Tableau filtrable :</a:t>
            </a:r>
            <a:endParaRPr lang="en-US" sz="1000" dirty="0"/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en-US" sz="1000" dirty="0">
                <a:solidFill>
                  <a:srgbClr val="23303A"/>
                </a:solidFill>
                <a:latin typeface="Calibri" pitchFamily="34" charset="0"/>
              </a:rPr>
              <a:t>déclarant, parti, chambre</a:t>
            </a: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en-US" sz="1000" dirty="0">
                <a:solidFill>
                  <a:srgbClr val="23303A"/>
                </a:solidFill>
                <a:latin typeface="Calibri" pitchFamily="34" charset="0"/>
              </a:rPr>
              <a:t>ticker, type, fourchette</a:t>
            </a: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en-US" sz="1000" dirty="0">
                <a:solidFill>
                  <a:srgbClr val="23303A"/>
                </a:solidFill>
                <a:latin typeface="Calibri" pitchFamily="34" charset="0"/>
              </a:rPr>
              <a:t>date de trade + dépôt</a:t>
            </a:r>
          </a:p>
          <a:p>
            <a:pPr marL="171450" indent="-171450">
              <a:spcAft>
                <a:spcPts val="200"/>
              </a:spcAft>
              <a:buFont typeface="Arial"/>
              <a:buChar char="•"/>
            </a:pPr>
            <a:r>
              <a:rPr lang="en-US" sz="1000" dirty="0">
                <a:solidFill>
                  <a:srgbClr val="23303A"/>
                </a:solidFill>
                <a:latin typeface="Calibri" pitchFamily="34" charset="0"/>
              </a:rPr>
              <a:t>lien vers le filing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00" dirty="0">
                <a:solidFill>
                  <a:srgbClr val="23303A"/>
                </a:solidFill>
                <a:latin typeface="Calibri" pitchFamily="34" charset="0"/>
              </a:rPr>
              <a:t>Idéal pour vérifier un cas à la main.</a:t>
            </a:r>
            <a:endParaRPr lang="en-US" sz="1000" dirty="0"/>
          </a:p>
        </p:txBody>
      </p:sp>
      <p:sp>
        <p:nvSpPr>
          <p:cNvPr id="22" name="CTVerdict"/>
          <p:cNvSpPr/>
          <p:nvPr/>
        </p:nvSpPr>
        <p:spPr>
          <a:xfrm>
            <a:off x="5851560" y="4187952"/>
            <a:ext cx="2835240" cy="640080"/>
          </a:xfrm>
          <a:prstGeom prst="roundRect">
            <a:avLst>
              <a:gd name="adj" fmla="val 8000"/>
            </a:avLst>
          </a:prstGeom>
          <a:solidFill>
            <a:srgbClr val="FBEFDD"/>
          </a:solidFill>
          <a:ln/>
        </p:spPr>
        <p:txBody>
          <a:bodyPr wrap="square" lIns="137160" tIns="68580" rIns="137160" bIns="6858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730B"/>
                </a:solidFill>
                <a:latin typeface="Calibri" pitchFamily="34" charset="0"/>
              </a:rPr>
              <a:t>Limite : </a:t>
            </a:r>
            <a:r>
              <a:rPr lang="en-US" sz="1000" dirty="0">
                <a:solidFill>
                  <a:srgbClr val="23303A"/>
                </a:solidFill>
                <a:latin typeface="Calibri" pitchFamily="34" charset="0"/>
              </a:rPr>
              <a:t>historique court (~3 ans), pas d'API publique → mauvais fallback historique.</a:t>
            </a:r>
            <a:endParaRPr lang="en-US" sz="1000" dirty="0"/>
          </a:p>
        </p:txBody>
      </p:sp>
      <p:sp>
        <p:nvSpPr>
          <p:cNvPr id="30" name="Footer"/>
          <p:cNvSpPr/>
          <p:nvPr/>
        </p:nvSpPr>
        <p:spPr>
          <a:xfrm>
            <a:off x="457200" y="49447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770"/>
                </a:solidFill>
                <a:latin typeface="Calibri" pitchFamily="34" charset="0"/>
              </a:rPr>
              <a:t>Test décisif : comparer un échantillon d'une année de recouvrement à notre extraction officielle (coverage, exactitude, les 2 dates).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dirty="0">
                <a:solidFill>
                  <a:srgbClr val="1F4E79"/>
                </a:solidFill>
                <a:latin typeface="Cambria" pitchFamily="34" charset="0"/>
              </a:rPr>
              <a:t>Sourcing des métadonnées : commissions</a:t>
            </a:r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BEFDD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676656" y="1371600"/>
            <a:ext cx="548640" cy="548640"/>
          </a:xfrm>
          <a:prstGeom prst="ellipse">
            <a:avLst/>
          </a:prstGeom>
          <a:solidFill>
            <a:srgbClr val="C273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" y="151424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22529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dirty="0">
                <a:solidFill>
                  <a:srgbClr val="C2730B"/>
                </a:solidFill>
                <a:latin typeface="Cambria" pitchFamily="34" charset="0"/>
              </a:rPr>
              <a:t>Aucune n'est dans les PTR</a:t>
            </a:r>
          </a:p>
        </p:txBody>
      </p:sp>
      <p:sp>
        <p:nvSpPr>
          <p:cNvPr id="9" name="Text 5"/>
          <p:cNvSpPr/>
          <p:nvPr/>
        </p:nvSpPr>
        <p:spPr>
          <a:xfrm>
            <a:off x="1371600" y="166420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rgbClr val="23303A"/>
                </a:solidFill>
                <a:latin typeface="Calibri" pitchFamily="34" charset="0"/>
              </a:rPr>
              <a:t>committee_membership, party et mandats sont garantis dans la table finale, mais absents des PTR : à sourcer ailleurs.</a:t>
            </a:r>
          </a:p>
        </p:txBody>
      </p:sp>
      <p:sp>
        <p:nvSpPr>
          <p:cNvPr id="10" name="Shape 6"/>
          <p:cNvSpPr/>
          <p:nvPr/>
        </p:nvSpPr>
        <p:spPr>
          <a:xfrm>
            <a:off x="457200" y="246888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640080" y="2578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b="1" dirty="0">
                <a:solidFill>
                  <a:srgbClr val="1F4E79"/>
                </a:solidFill>
                <a:latin typeface="Cambria" pitchFamily="34" charset="0"/>
              </a:rPr>
              <a:t>Parti &amp; mandats — résolu</a:t>
            </a:r>
          </a:p>
        </p:txBody>
      </p:sp>
      <p:sp>
        <p:nvSpPr>
          <p:cNvPr id="12" name="Text 8"/>
          <p:cNvSpPr/>
          <p:nvPr/>
        </p:nvSpPr>
        <p:spPr>
          <a:xfrm>
            <a:off x="640080" y="297180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fr-FR" sz="1100" dirty="0">
                <a:solidFill>
                  <a:srgbClr val="23303A"/>
                </a:solidFill>
                <a:latin typeface="Calibri" pitchFamily="34" charset="0"/>
              </a:rPr>
              <a:t>Parti + mandats via les party_affiliations datées.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fr-FR" sz="1100" dirty="0">
                <a:solidFill>
                  <a:srgbClr val="23303A"/>
                </a:solidFill>
                <a:latin typeface="Calibri" pitchFamily="34" charset="0"/>
              </a:rPr>
              <a:t>API ProPublica Congress = fermée : ne plus en dépendre.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1F4E79"/>
                </a:solidFill>
                <a:latin typeface="Courier New" pitchFamily="34" charset="0"/>
              </a:rPr>
              <a:t>congress-legislators</a:t>
            </a:r>
          </a:p>
        </p:txBody>
      </p:sp>
      <p:sp>
        <p:nvSpPr>
          <p:cNvPr id="13" name="Shape 9"/>
          <p:cNvSpPr/>
          <p:nvPr/>
        </p:nvSpPr>
        <p:spPr>
          <a:xfrm>
            <a:off x="4663440" y="246888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3F6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/>
          <p:nvPr/>
        </p:nvSpPr>
        <p:spPr>
          <a:xfrm>
            <a:off x="4846320" y="2578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b="1" dirty="0">
                <a:solidFill>
                  <a:srgbClr val="1F4E79"/>
                </a:solidFill>
                <a:latin typeface="Cambria" pitchFamily="34" charset="0"/>
              </a:rPr>
              <a:t>Commissions — le morceau dur</a:t>
            </a:r>
          </a:p>
        </p:txBody>
      </p:sp>
      <p:sp>
        <p:nvSpPr>
          <p:cNvPr id="15" name="Text 11"/>
          <p:cNvSpPr/>
          <p:nvPr/>
        </p:nvSpPr>
        <p:spPr>
          <a:xfrm>
            <a:off x="4846320" y="297180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fr-FR" sz="1100" dirty="0">
                <a:solidFill>
                  <a:srgbClr val="23303A"/>
                </a:solidFill>
                <a:latin typeface="Calibri" pitchFamily="34" charset="0"/>
              </a:rPr>
              <a:t>congress-legislators ne donne que les commissions courantes.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fr-FR" sz="1100" b="1" dirty="0">
                <a:solidFill>
                  <a:srgbClr val="B3261E"/>
                </a:solidFill>
                <a:latin typeface="Calibri" pitchFamily="34" charset="0"/>
              </a:rPr>
              <a:t>Historique des rosters → source dédiée (Stewart &amp; Nelson, MIT) ou scraping.</a:t>
            </a:r>
          </a:p>
          <a:p>
            <a:pPr marL="0" indent="0">
              <a:buNone/>
            </a:pPr>
            <a:r>
              <a:rPr lang="fr-FR" sz="1100" i="1" dirty="0">
                <a:solidFill>
                  <a:srgbClr val="C2730B"/>
                </a:solidFill>
                <a:latin typeface="Calibri" pitchFamily="34" charset="0"/>
              </a:rPr>
              <a:t>Point-in-time obligatoire : roster à la date du trade, sinon look-ahead.</a:t>
            </a:r>
          </a:p>
        </p:txBody>
      </p:sp>
    </p:spTree>
    <p:extLst>
      <p:ext uri="{BB962C8B-B14F-4D97-AF65-F5344CB8AC3E}">
        <p14:creationId xmlns:p14="http://schemas.microsoft.com/office/powerpoint/2010/main" val="3138621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 d'architecture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66928" y="114300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371600" y="114300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154680" y="1143000"/>
            <a:ext cx="5440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 — texte natif, 2014→2026, lien index→PDF prouvé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9842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566928" y="198424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371600" y="198424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Senate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154680" y="1984248"/>
            <a:ext cx="5440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 — HTML + OCR ; couvre 2012→ pour les sénateurs en poste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28254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7F1E7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66928" y="282549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71600" y="282549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Agrégateur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154680" y="2825496"/>
            <a:ext cx="5440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 seulement, après contrôle sur une année de recouvrement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373075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BEFDD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658368" y="3858768"/>
            <a:ext cx="457200" cy="457200"/>
          </a:xfrm>
          <a:prstGeom prst="ellipse">
            <a:avLst/>
          </a:prstGeom>
          <a:solidFill>
            <a:srgbClr val="C273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77640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34440" y="3730752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Capitol Trades ≠ fallback historique (3 ans).   Quiver seulement si coût + droits commerciaux tranchés.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476585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0432" y="31089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1481328" y="160020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504" y="1771376"/>
            <a:ext cx="316017" cy="3160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23957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House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0080" y="28529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récupérer les 8 248 PDF listés (ptr_index), prouver complétude (obtenus vs attendus)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005840" y="3657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127248" y="22402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3364992" y="13716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4389120" y="160020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296" y="1771376"/>
            <a:ext cx="316017" cy="31601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02152" y="23957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LLM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547872" y="28529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(Sonnet) → JSON structuré, garde-fous anti-hallucination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3913632" y="3657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035040" y="22402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6272784" y="137160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EAF1F9"/>
          </a:solidFill>
          <a:ln/>
          <a:effectLst>
            <a:outerShdw blurRad="88900" dist="38100" dir="5400000" algn="bl" rotWithShape="0">
              <a:srgbClr val="9AA5AE">
                <a:alpha val="2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7296912" y="1600200"/>
            <a:ext cx="658368" cy="658368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8088" y="1771376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9944" y="23957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Nettoyage &amp; table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55664" y="28529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3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tickers, noms, doublons → table finale + mapping GICS→ETF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821424" y="3657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House complet et chiffré (2014→2026, 8 248 PTR). Jours 3–4 = télécharger les PDF et prouver la complétude. Chantier Senate (session + OCR) isolé.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9849080-4555-6B45-982D-A78CED3D8A2A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7b985b7c-6e97-4545-ab6c-513823a5189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895</TotalTime>
  <Words>2452</Words>
  <Application>Microsoft Macintosh PowerPoint</Application>
  <PresentationFormat>Affichage à l'écran (16:9)</PresentationFormat>
  <Paragraphs>257</Paragraphs>
  <Slides>24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Congress Trading Signal — Contexte &amp; Audit</dc:title>
  <dc:subject>PptxGenJS Presentation</dc:subject>
  <dc:creator>QIS</dc:creator>
  <cp:lastModifiedBy>Alice Lemaire</cp:lastModifiedBy>
  <cp:revision>11</cp:revision>
  <dcterms:created xsi:type="dcterms:W3CDTF">2026-06-23T05:28:40Z</dcterms:created>
  <dcterms:modified xsi:type="dcterms:W3CDTF">2026-06-23T21:43:27Z</dcterms:modified>
</cp:coreProperties>
</file>